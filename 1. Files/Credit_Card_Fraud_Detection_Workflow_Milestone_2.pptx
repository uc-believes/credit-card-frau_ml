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3D095-C0C9-40EB-AC48-8B8D541FAAF3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3FB01-B3DC-49B6-A381-B1E14ED749A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757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19088"/>
            <a:ext cx="1138428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64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Card Fraud Detection • Machine Learning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875520" y="646480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SEMESTER PROJECT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6480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2B50D9"/>
          </a:solidFill>
          <a:ln>
            <a:solidFill>
              <a:srgbClr val="2B5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464040" y="1143000"/>
            <a:ext cx="3291840" cy="3291840"/>
          </a:xfrm>
          <a:prstGeom prst="ellipse">
            <a:avLst/>
          </a:prstGeom>
          <a:noFill/>
          <a:ln w="25400">
            <a:solidFill>
              <a:srgbClr val="5A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06840" y="1600200"/>
            <a:ext cx="2057400" cy="2057400"/>
          </a:xfrm>
          <a:prstGeom prst="ellipse">
            <a:avLst/>
          </a:prstGeom>
          <a:noFill/>
          <a:ln w="25400">
            <a:solidFill>
              <a:srgbClr val="5A9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542032"/>
            <a:ext cx="6309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8B7D2"/>
                </a:solidFill>
                <a:latin typeface="Aptos"/>
              </a:rPr>
              <a:t>PROJECT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25496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CCDBF3"/>
                </a:solidFill>
                <a:latin typeface="Aptos"/>
              </a:rPr>
              <a:t>From transaction data to fraud-risk 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22119" y="3542097"/>
            <a:ext cx="3532633" cy="402336"/>
          </a:xfrm>
          <a:prstGeom prst="roundRect">
            <a:avLst>
              <a:gd name="adj" fmla="val 12000"/>
            </a:avLst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10512" y="3579537"/>
            <a:ext cx="335584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dirty="0">
                <a:solidFill>
                  <a:srgbClr val="F8FAFD"/>
                </a:solidFill>
                <a:latin typeface="Aptos"/>
              </a:rPr>
              <a:t>MILESTONE 02 •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" y="478305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B0C1DC"/>
                </a:solidFill>
                <a:latin typeface="Aptos"/>
              </a:rPr>
              <a:t>Artificial Intelligence &amp; Data Science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733288"/>
            <a:ext cx="6492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“Data → Learn → Score → Flag”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400800"/>
            <a:ext cx="11064240" cy="13716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89A6"/>
                </a:solidFill>
                <a:latin typeface="Aptos"/>
              </a:rPr>
              <a:t>Credit Card Fraud Detection • ML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28232"/>
            <a:ext cx="411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89A6"/>
                </a:solidFill>
                <a:latin typeface="Aptos"/>
              </a:rPr>
              <a:t>1</a:t>
            </a: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8811BE42-3F71-A8E6-2967-A6577E602200}"/>
              </a:ext>
            </a:extLst>
          </p:cNvPr>
          <p:cNvSpPr/>
          <p:nvPr/>
        </p:nvSpPr>
        <p:spPr>
          <a:xfrm>
            <a:off x="651370" y="1017784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CREDIT CARD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FRAUD DETECTION</a:t>
            </a:r>
            <a:endParaRPr lang="en-US" sz="4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EF392C20-48CC-BD0E-1D2B-72B4781F3D2F}"/>
              </a:ext>
            </a:extLst>
          </p:cNvPr>
          <p:cNvSpPr/>
          <p:nvPr/>
        </p:nvSpPr>
        <p:spPr>
          <a:xfrm>
            <a:off x="731520" y="3925016"/>
            <a:ext cx="5318760" cy="1021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Presented by: Code Masala</a:t>
            </a:r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Project Co-Ordinator: Asst. Prof. Geetika Hazra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Aptos"/>
              </a:rPr>
              <a:t>The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321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0C1DC"/>
                </a:solidFill>
                <a:latin typeface="Aptos"/>
              </a:rPr>
              <a:t>A single pipeline transforms raw transaction records into an actionable fraud-risk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35640" cy="18288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400800"/>
            <a:ext cx="11064240" cy="13716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89A6"/>
                </a:solidFill>
                <a:latin typeface="Aptos"/>
              </a:rPr>
              <a:t>Credit Card Fraud Detection • ML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411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89A6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72767"/>
            <a:ext cx="2057400" cy="1325879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572768"/>
            <a:ext cx="205740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2104" y="171907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048256"/>
            <a:ext cx="1764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TRANSACTION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487168"/>
            <a:ext cx="1764792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Historical labelled transactions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572768"/>
            <a:ext cx="2057400" cy="1325878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063240" y="1572768"/>
            <a:ext cx="205740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09544" y="171907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9544" y="2048256"/>
            <a:ext cx="1764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CLEAN &amp;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9544" y="2487168"/>
            <a:ext cx="1764792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Missing values, duplicates, types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572768"/>
            <a:ext cx="2057394" cy="1316736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40680" y="1572768"/>
            <a:ext cx="205740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86984" y="171907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6984" y="2048256"/>
            <a:ext cx="1764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PREPROCESS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86984" y="2487168"/>
            <a:ext cx="1764792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Scale features + encode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8120" y="1572767"/>
            <a:ext cx="2057389" cy="1261871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18120" y="1572768"/>
            <a:ext cx="205740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64424" y="171907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64424" y="2048256"/>
            <a:ext cx="176479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HANDLE IMBALANCE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64424" y="2487168"/>
            <a:ext cx="1764792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Class weights / resampling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95560" y="1572768"/>
            <a:ext cx="1325880" cy="1207008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195560" y="1572768"/>
            <a:ext cx="132588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41864" y="1719072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4" y="2048256"/>
            <a:ext cx="103327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SPLIT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41864" y="2487168"/>
            <a:ext cx="1033271" cy="1828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Train / test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743200" y="2176272"/>
            <a:ext cx="320040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120640" y="2176272"/>
            <a:ext cx="320039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98079" y="2176272"/>
            <a:ext cx="320040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75520" y="2176272"/>
            <a:ext cx="320040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417320" y="3794760"/>
            <a:ext cx="2331720" cy="132588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417320" y="3794760"/>
            <a:ext cx="233172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63624" y="394106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63624" y="4270248"/>
            <a:ext cx="20391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TRAIN 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3624" y="4709160"/>
            <a:ext cx="2039112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Logistic Regression • Decision Tree • Random Forest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7720" y="3794760"/>
            <a:ext cx="2331720" cy="132588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617720" y="3794760"/>
            <a:ext cx="233172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764024" y="394106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024" y="4270248"/>
            <a:ext cx="20391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EVALUATE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4024" y="4709160"/>
            <a:ext cx="2039112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Precision • Recall • F1 • ROC-AUC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0" y="3785617"/>
            <a:ext cx="2331720" cy="132588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315200" y="3785617"/>
            <a:ext cx="233172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61504" y="3931921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61504" y="4261105"/>
            <a:ext cx="203911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SELECT BEST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61504" y="4700017"/>
            <a:ext cx="2039112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Best balance of detection + false alarms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95560" y="3794760"/>
            <a:ext cx="1325880" cy="132588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0195560" y="3794760"/>
            <a:ext cx="132588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341864" y="3941064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41864" y="4270248"/>
            <a:ext cx="103327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PREDICT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1864" y="4709160"/>
            <a:ext cx="1033271" cy="3017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Fraud risk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853928" y="2779776"/>
            <a:ext cx="0" cy="557784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cxnSpLocks/>
          </p:cNvCxnSpPr>
          <p:nvPr/>
        </p:nvCxnSpPr>
        <p:spPr>
          <a:xfrm flipH="1">
            <a:off x="998376" y="3337560"/>
            <a:ext cx="9855552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cxnSpLocks/>
          </p:cNvCxnSpPr>
          <p:nvPr/>
        </p:nvCxnSpPr>
        <p:spPr>
          <a:xfrm>
            <a:off x="997443" y="3364992"/>
            <a:ext cx="933" cy="1088136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6949440" y="4453128"/>
            <a:ext cx="365760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H="1">
            <a:off x="3794760" y="4453128"/>
            <a:ext cx="822960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>
            <a:cxnSpLocks/>
          </p:cNvCxnSpPr>
          <p:nvPr/>
        </p:nvCxnSpPr>
        <p:spPr>
          <a:xfrm flipH="1">
            <a:off x="998376" y="4453128"/>
            <a:ext cx="418944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2697480" y="5532120"/>
            <a:ext cx="6812280" cy="530352"/>
          </a:xfrm>
          <a:prstGeom prst="roundRect">
            <a:avLst>
              <a:gd name="adj" fmla="val 12000"/>
            </a:avLst>
          </a:prstGeom>
          <a:solidFill>
            <a:srgbClr val="1C2F4D"/>
          </a:solidFill>
          <a:ln>
            <a:solidFill>
              <a:srgbClr val="1C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926080" y="5660136"/>
            <a:ext cx="6355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CCDBF3"/>
                </a:solidFill>
                <a:latin typeface="Aptos"/>
              </a:rPr>
              <a:t>Goal: detect more fraud without creating excessive false alerts.</a:t>
            </a:r>
          </a:p>
        </p:txBody>
      </p:sp>
      <p:cxnSp>
        <p:nvCxnSpPr>
          <p:cNvPr id="70" name="Connector 60">
            <a:extLst>
              <a:ext uri="{FF2B5EF4-FFF2-40B4-BE49-F238E27FC236}">
                <a16:creationId xmlns:a16="http://schemas.microsoft.com/office/drawing/2014/main" id="{0024BBF9-A7E2-FCAE-8433-837B07846FE6}"/>
              </a:ext>
            </a:extLst>
          </p:cNvPr>
          <p:cNvCxnSpPr>
            <a:cxnSpLocks/>
            <a:stCxn id="53" idx="1"/>
          </p:cNvCxnSpPr>
          <p:nvPr/>
        </p:nvCxnSpPr>
        <p:spPr>
          <a:xfrm flipH="1" flipV="1">
            <a:off x="9646920" y="4453128"/>
            <a:ext cx="548640" cy="4572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Aptos"/>
              </a:rPr>
              <a:t>Workflow A — Build the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321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0C1DC"/>
                </a:solidFill>
                <a:latin typeface="Aptos"/>
              </a:rPr>
              <a:t>The model only becomes useful after the transaction data is made consistent, balanced and measurable.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35640" cy="18288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400800"/>
            <a:ext cx="11064240" cy="13716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89A6"/>
                </a:solidFill>
                <a:latin typeface="Aptos"/>
              </a:rPr>
              <a:t>Credit Card Fraud Detection • ML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411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89A6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481328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DATA PREPARATION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74519"/>
            <a:ext cx="3246120" cy="612648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1874519"/>
            <a:ext cx="73152" cy="612648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1984248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B7D2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1956815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956815"/>
            <a:ext cx="1389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B0C1DC"/>
                </a:solidFill>
                <a:latin typeface="Aptos"/>
              </a:rPr>
              <a:t>Transaction records + fraud label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60903"/>
            <a:ext cx="3246120" cy="612648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2660903"/>
            <a:ext cx="73152" cy="612648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27706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B7D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2743199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2743199"/>
            <a:ext cx="1389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B0C1DC"/>
                </a:solidFill>
                <a:latin typeface="Aptos"/>
              </a:rPr>
              <a:t>Missing / duplicate / invalid records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47287"/>
            <a:ext cx="3246120" cy="612648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447287"/>
            <a:ext cx="73152" cy="612648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557015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B7D2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529583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TRANSFORM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529583"/>
            <a:ext cx="1389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B0C1DC"/>
                </a:solidFill>
                <a:latin typeface="Aptos"/>
              </a:rPr>
              <a:t>Scale numeric features; prepare inputs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33672"/>
            <a:ext cx="3246120" cy="612648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4233672"/>
            <a:ext cx="73152" cy="612648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434340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B7D2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4315968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BALANCE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315968"/>
            <a:ext cx="1389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B0C1DC"/>
                </a:solidFill>
                <a:latin typeface="Aptos"/>
              </a:rPr>
              <a:t>Class weights or controlled resampling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0056"/>
            <a:ext cx="3246120" cy="612648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020056"/>
            <a:ext cx="73152" cy="612648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" y="5129784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8B7D2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102352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5102352"/>
            <a:ext cx="138988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B0C1DC"/>
                </a:solidFill>
                <a:latin typeface="Aptos"/>
              </a:rPr>
              <a:t>Train / validation / test sets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1600200"/>
            <a:ext cx="6995160" cy="1874519"/>
          </a:xfrm>
          <a:prstGeom prst="roundRect">
            <a:avLst>
              <a:gd name="adj" fmla="val 12000"/>
            </a:avLst>
          </a:prstGeom>
          <a:solidFill>
            <a:srgbClr val="1A2C48"/>
          </a:solidFill>
          <a:ln>
            <a:solidFill>
              <a:srgbClr val="1A2C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181051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FEATURE 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21488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Aptos"/>
              </a:rPr>
              <a:t>time • amount • transaction features • encoded variables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2633472"/>
            <a:ext cx="6172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B0C1DC"/>
                </a:solidFill>
                <a:latin typeface="Aptos"/>
              </a:rPr>
              <a:t>Output → a consistent numerical representation for ML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3749039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MODEL TRAINING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34840" y="4160520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2B50D9"/>
          </a:solidFill>
          <a:ln>
            <a:solidFill>
              <a:srgbClr val="2B5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0" y="4270248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LOGISTIC REGRESSION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535424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0C1DC"/>
                </a:solidFill>
                <a:latin typeface="Aptos"/>
              </a:rPr>
              <a:t>baseline / interpretable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91271" y="4160520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28431" y="4270248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DECISION 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28431" y="4535424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0C1DC"/>
                </a:solidFill>
                <a:latin typeface="Aptos"/>
              </a:rPr>
              <a:t>rule-based patterns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34840" y="5010912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0" y="51206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RANDOM FOREST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385816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0C1DC"/>
                </a:solidFill>
                <a:latin typeface="Aptos"/>
              </a:rPr>
              <a:t>robust ensemble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91271" y="5010912"/>
            <a:ext cx="3154680" cy="713232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28431" y="5120640"/>
            <a:ext cx="2834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8FAFD"/>
                </a:solidFill>
                <a:latin typeface="Aptos"/>
              </a:rPr>
              <a:t>OPTIONAL: XGBOOST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28431" y="5385816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B0C1DC"/>
                </a:solidFill>
                <a:latin typeface="Aptos"/>
              </a:rPr>
              <a:t>strong benchmark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"/>
            <a:ext cx="1024128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F8FAFD"/>
                </a:solidFill>
                <a:latin typeface="Aptos"/>
              </a:rPr>
              <a:t>Workflow B — Evaluate, Select &amp; Predict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32104"/>
            <a:ext cx="100584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0C1DC"/>
                </a:solidFill>
                <a:latin typeface="Aptos"/>
              </a:rPr>
              <a:t>Model selection is driven by fraud-detection quality, not accuracy alone.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35640" cy="18288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400800"/>
            <a:ext cx="11064240" cy="13716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89A6"/>
                </a:solidFill>
                <a:latin typeface="Aptos"/>
              </a:rPr>
              <a:t>Credit Card Fraud Detection • ML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411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89A6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572768"/>
            <a:ext cx="2542032" cy="96012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719072"/>
            <a:ext cx="22677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B7D2"/>
                </a:solidFill>
                <a:latin typeface="Aptos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039112"/>
            <a:ext cx="2249424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dirty="0">
                <a:solidFill>
                  <a:srgbClr val="B0C1DC"/>
                </a:solidFill>
                <a:latin typeface="Aptos"/>
              </a:rPr>
              <a:t>How many flagged cases are actually fraud?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9584" y="1572768"/>
            <a:ext cx="2542032" cy="96012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66744" y="1719072"/>
            <a:ext cx="22677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18B7D2"/>
                </a:solidFill>
                <a:latin typeface="Aptos"/>
              </a:rPr>
              <a:t>RECALL</a:t>
            </a:r>
            <a:endParaRPr sz="1000" b="1" dirty="0">
              <a:solidFill>
                <a:srgbClr val="18B7D2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75888" y="2039112"/>
            <a:ext cx="224942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0C1DC"/>
                </a:solidFill>
                <a:latin typeface="Aptos"/>
              </a:rPr>
              <a:t>How much fraud did we catch?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572768"/>
            <a:ext cx="2542032" cy="96012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83096" y="1719072"/>
            <a:ext cx="22677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39112"/>
            <a:ext cx="224942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0C1DC"/>
                </a:solidFill>
                <a:latin typeface="Aptos"/>
              </a:rPr>
              <a:t>Balance between precision + 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572768"/>
            <a:ext cx="2542032" cy="96012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9448" y="1719072"/>
            <a:ext cx="226771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039112"/>
            <a:ext cx="2249424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B0C1DC"/>
                </a:solidFill>
                <a:latin typeface="Aptos"/>
              </a:rPr>
              <a:t>How well does the model rank risk?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8803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MODEL COMPARISON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73552"/>
            <a:ext cx="2423160" cy="1216152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13232" y="3273552"/>
            <a:ext cx="242316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" y="341985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3749039"/>
            <a:ext cx="21305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TEST PREDICTIONS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4039409"/>
            <a:ext cx="213055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B0C1DC"/>
                </a:solidFill>
                <a:latin typeface="Aptos"/>
              </a:rPr>
              <a:t>Generate probabilities + classes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3273552"/>
            <a:ext cx="2423160" cy="1216152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75887" y="3273552"/>
            <a:ext cx="242316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22191" y="341985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2191" y="3749039"/>
            <a:ext cx="21305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COMPARE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1" y="4017215"/>
            <a:ext cx="213055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B0C1DC"/>
                </a:solidFill>
                <a:latin typeface="Aptos"/>
              </a:rPr>
              <a:t>Focus on recall, precision &amp; F1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38544" y="3273552"/>
            <a:ext cx="2423160" cy="1216152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38544" y="3273552"/>
            <a:ext cx="2423160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84848" y="341985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749039"/>
            <a:ext cx="213055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SELECT WINNER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4187952"/>
            <a:ext cx="21305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B0C1DC"/>
                </a:solidFill>
                <a:latin typeface="Aptos"/>
              </a:rPr>
              <a:t>Best practical trade-off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3273552"/>
            <a:ext cx="1874519" cy="1216152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601200" y="3273552"/>
            <a:ext cx="1874519" cy="54864"/>
          </a:xfrm>
          <a:prstGeom prst="rect">
            <a:avLst/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47504" y="3419856"/>
            <a:ext cx="411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B7D2"/>
                </a:solidFill>
                <a:latin typeface="Aptos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47504" y="3749039"/>
            <a:ext cx="1581911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D"/>
                </a:solidFill>
                <a:latin typeface="Aptos"/>
              </a:rPr>
              <a:t>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47504" y="4187952"/>
            <a:ext cx="158191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0C1DC"/>
                </a:solidFill>
                <a:latin typeface="Aptos"/>
              </a:rPr>
              <a:t>Save trained model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136392" y="3877056"/>
            <a:ext cx="539495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099048" y="3877056"/>
            <a:ext cx="539496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061704" y="3877056"/>
            <a:ext cx="539496" cy="0"/>
          </a:xfrm>
          <a:prstGeom prst="line">
            <a:avLst/>
          </a:prstGeom>
          <a:ln w="25400">
            <a:solidFill>
              <a:srgbClr val="18B7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60120" y="4983480"/>
            <a:ext cx="10149840" cy="941832"/>
          </a:xfrm>
          <a:prstGeom prst="roundRect">
            <a:avLst>
              <a:gd name="adj" fmla="val 12000"/>
            </a:avLst>
          </a:prstGeom>
          <a:solidFill>
            <a:srgbClr val="1C2F4D"/>
          </a:solidFill>
          <a:ln>
            <a:solidFill>
              <a:srgbClr val="1C2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234440" y="5193792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18B7D2"/>
                </a:solidFill>
                <a:latin typeface="Aptos"/>
              </a:rPr>
              <a:t>NEW TRANSACTION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73552" y="5175504"/>
            <a:ext cx="187451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D"/>
                </a:solidFill>
                <a:latin typeface="Aptos"/>
              </a:rPr>
              <a:t>→ FRAUD SCORE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5175504"/>
            <a:ext cx="187451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8FAFD"/>
                </a:solidFill>
                <a:latin typeface="Aptos"/>
              </a:rPr>
              <a:t>→ RISK LEVEL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5175504"/>
            <a:ext cx="3493008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D"/>
                </a:solidFill>
                <a:latin typeface="Aptos"/>
              </a:rPr>
              <a:t>→ FLAG / ALLOW /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34440" y="5559552"/>
            <a:ext cx="95554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CDBF3"/>
                </a:solidFill>
                <a:latin typeface="Aptos"/>
              </a:rPr>
              <a:t>Example: probability 0.91 → HIGH RISK → send for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43891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8B7D2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93192"/>
            <a:ext cx="1024128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D"/>
                </a:solidFill>
                <a:latin typeface="Aptos"/>
              </a:rPr>
              <a:t>Final 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321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0C1DC"/>
                </a:solidFill>
                <a:latin typeface="Aptos"/>
              </a:rPr>
              <a:t>This is the workflow we will implement as the semester project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88720"/>
            <a:ext cx="10835640" cy="18288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400800"/>
            <a:ext cx="11064240" cy="13716"/>
          </a:xfrm>
          <a:prstGeom prst="rect">
            <a:avLst/>
          </a:prstGeom>
          <a:solidFill>
            <a:srgbClr val="304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7789A6"/>
                </a:solidFill>
                <a:latin typeface="Aptos"/>
              </a:rPr>
              <a:t>Credit Card Fraud Detection • ML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00" y="6428232"/>
            <a:ext cx="4114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7789A6"/>
                </a:solidFill>
                <a:latin typeface="Aptos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2B50D9"/>
          </a:solidFill>
          <a:ln>
            <a:solidFill>
              <a:srgbClr val="2B5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2148840"/>
            <a:ext cx="3657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D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450592"/>
            <a:ext cx="162763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788920"/>
            <a:ext cx="162763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CDBF3"/>
                </a:solidFill>
                <a:latin typeface="Aptos"/>
              </a:rPr>
              <a:t>Transaction
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9659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08376" y="2148840"/>
            <a:ext cx="3657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D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450592"/>
            <a:ext cx="162763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PREPARE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2788920"/>
            <a:ext cx="162763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CDBF3"/>
                </a:solidFill>
                <a:latin typeface="Aptos"/>
              </a:rPr>
              <a:t>Clean +
transform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19659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18B7D2"/>
          </a:solidFill>
          <a:ln>
            <a:solidFill>
              <a:srgbClr val="18B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94376" y="2148840"/>
            <a:ext cx="3657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450592"/>
            <a:ext cx="162763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788920"/>
            <a:ext cx="162763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CDBF3"/>
                </a:solidFill>
                <a:latin typeface="Aptos"/>
              </a:rPr>
              <a:t>ML
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9659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30435F"/>
          </a:solidFill>
          <a:ln>
            <a:solidFill>
              <a:srgbClr val="30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0376" y="2148840"/>
            <a:ext cx="3657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D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2450592"/>
            <a:ext cx="162763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2788920"/>
            <a:ext cx="162763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CDBF3"/>
                </a:solidFill>
                <a:latin typeface="Aptos"/>
              </a:rPr>
              <a:t>Fraud
probability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9659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2B50D9"/>
          </a:solidFill>
          <a:ln>
            <a:solidFill>
              <a:srgbClr val="2B5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66376" y="2148840"/>
            <a:ext cx="36576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8FAFD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6376" y="2450592"/>
            <a:ext cx="1627632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D"/>
                </a:solidFill>
                <a:latin typeface="Aptos"/>
              </a:rPr>
              <a:t>DECISION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788920"/>
            <a:ext cx="162763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CDBF3"/>
                </a:solidFill>
                <a:latin typeface="Aptos"/>
              </a:rPr>
              <a:t>Risk
threshold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68880" y="2670048"/>
            <a:ext cx="384048" cy="0"/>
          </a:xfrm>
          <a:prstGeom prst="line">
            <a:avLst/>
          </a:prstGeom>
          <a:ln w="25400">
            <a:solidFill>
              <a:srgbClr val="F8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54880" y="2670048"/>
            <a:ext cx="384048" cy="0"/>
          </a:xfrm>
          <a:prstGeom prst="line">
            <a:avLst/>
          </a:prstGeom>
          <a:ln w="25400">
            <a:solidFill>
              <a:srgbClr val="F8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40880" y="2670048"/>
            <a:ext cx="384048" cy="0"/>
          </a:xfrm>
          <a:prstGeom prst="line">
            <a:avLst/>
          </a:prstGeom>
          <a:ln w="25400">
            <a:solidFill>
              <a:srgbClr val="F8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26880" y="2670048"/>
            <a:ext cx="384048" cy="0"/>
          </a:xfrm>
          <a:prstGeom prst="line">
            <a:avLst/>
          </a:prstGeom>
          <a:ln w="25400">
            <a:solidFill>
              <a:srgbClr val="F8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680192" y="3383280"/>
            <a:ext cx="0" cy="594359"/>
          </a:xfrm>
          <a:prstGeom prst="line">
            <a:avLst/>
          </a:prstGeom>
          <a:ln w="25400">
            <a:solidFill>
              <a:srgbClr val="F8FA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955279" y="4069080"/>
            <a:ext cx="2743200" cy="932688"/>
          </a:xfrm>
          <a:prstGeom prst="roundRect">
            <a:avLst>
              <a:gd name="adj" fmla="val 12000"/>
            </a:avLst>
          </a:prstGeom>
          <a:solidFill>
            <a:srgbClr val="4ABE96"/>
          </a:solidFill>
          <a:ln>
            <a:solidFill>
              <a:srgbClr val="4AB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38160" y="4279392"/>
            <a:ext cx="237744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7263F"/>
                </a:solidFill>
                <a:latin typeface="Aptos"/>
              </a:rPr>
              <a:t>LOW / MEDIUM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4590288"/>
            <a:ext cx="23774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17263F"/>
                </a:solidFill>
                <a:latin typeface="Aptos"/>
              </a:rPr>
              <a:t>Allow / monitor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35640" y="4069080"/>
            <a:ext cx="713232" cy="932688"/>
          </a:xfrm>
          <a:prstGeom prst="roundRect">
            <a:avLst>
              <a:gd name="adj" fmla="val 12000"/>
            </a:avLst>
          </a:prstGeom>
          <a:solidFill>
            <a:srgbClr val="E86060"/>
          </a:solidFill>
          <a:ln>
            <a:solidFill>
              <a:srgbClr val="E86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881360" y="4251960"/>
            <a:ext cx="612648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8FAFD"/>
                </a:solidFill>
                <a:latin typeface="Aptos"/>
              </a:rPr>
              <a:t>HIGH
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3675887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0">
                <a:solidFill>
                  <a:srgbClr val="B0C1DC"/>
                </a:solidFill>
                <a:latin typeface="Aptos"/>
              </a:rPr>
              <a:t>↓ risk threshold 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577840"/>
            <a:ext cx="10607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D"/>
                </a:solidFill>
                <a:latin typeface="Aptos"/>
              </a:rPr>
              <a:t>Prototype outcome: a trained fraud classifier + prediction interface + evaluation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465</Words>
  <Application>Microsoft Office PowerPoint</Application>
  <PresentationFormat>Widescreen</PresentationFormat>
  <Paragraphs>133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Card Fraud Detection using Machine Learning</dc:title>
  <dc:subject>Credit Card Fraud Detection using Machine Learning</dc:subject>
  <dc:creator>Ujjwal Chandravanshi</dc:creator>
  <cp:lastModifiedBy>Ujjwal Chandravanshi</cp:lastModifiedBy>
  <cp:revision>2</cp:revision>
  <cp:lastPrinted>2026-08-25T05:06:17Z</cp:lastPrinted>
  <dcterms:created xsi:type="dcterms:W3CDTF">2026-08-12T15:57:45Z</dcterms:created>
  <dcterms:modified xsi:type="dcterms:W3CDTF">2026-08-25T05:10:54Z</dcterms:modified>
</cp:coreProperties>
</file>