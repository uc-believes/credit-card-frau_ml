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8568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6480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Card Fraud Detection • Machine Learning Project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875520" y="64648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SEMESTER PROJECT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3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9560" y="0"/>
            <a:ext cx="4279392" cy="6858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640080"/>
            <a:ext cx="3474720" cy="3474720"/>
          </a:xfrm>
          <a:prstGeom prst="arc">
            <a:avLst/>
          </a:prstGeom>
          <a:noFill/>
          <a:ln w="25400">
            <a:solidFill>
              <a:srgbClr val="60A5FA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325880"/>
            <a:ext cx="2103120" cy="2103120"/>
          </a:xfrm>
          <a:prstGeom prst="arc">
            <a:avLst/>
          </a:prstGeom>
          <a:noFill/>
          <a:ln w="25400">
            <a:solidFill>
              <a:srgbClr val="93C5FD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1370" y="1017784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CREDIT CARD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FRAUD DETECTION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70560" y="2282828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CEBFF"/>
                </a:solidFill>
              </a:rPr>
              <a:t>Using Machine Learning to identify suspicious transactions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950721" y="3214116"/>
            <a:ext cx="2108095" cy="429768"/>
          </a:xfrm>
          <a:prstGeom prst="roundRect">
            <a:avLst>
              <a:gd name="adj" fmla="val 2352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 sz="2000" dirty="0"/>
          </a:p>
        </p:txBody>
      </p:sp>
      <p:sp>
        <p:nvSpPr>
          <p:cNvPr id="8" name="Text 6"/>
          <p:cNvSpPr/>
          <p:nvPr/>
        </p:nvSpPr>
        <p:spPr>
          <a:xfrm>
            <a:off x="1733411" y="3148895"/>
            <a:ext cx="2629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PROJECT IDEA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1520" y="3925016"/>
            <a:ext cx="5318760" cy="1021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Presented by: Code Masala</a:t>
            </a: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Project Co-Ordinator: Asst. Prof. Geetika Hazra 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1520" y="4744431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C8E6"/>
                </a:solidFill>
              </a:rPr>
              <a:t>Semester Project • Artificial Intelligence &amp; Data Science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5623560"/>
            <a:ext cx="6629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F4FF"/>
                </a:solidFill>
              </a:rPr>
              <a:t>“Detect risk early. Reduce loss. Make digital payments safer.”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33C"/>
                </a:solidFill>
              </a:rPr>
              <a:t>1. The Problem We Are Solving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4"/>
                </a:solidFill>
              </a:rPr>
              <a:t>Why fraud detection is a machine learning problem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67665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25400" dist="50800" dir="2700000" algn="bl" rotWithShape="0">
              <a:srgbClr val="B9C5D6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727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33C"/>
                </a:solidFill>
              </a:rPr>
              <a:t>The real-world challenge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6035040" cy="2651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Millions of legitimate transactions happen every day, while fraudulent ones are a tiny minority.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Fraudsters change their behavior, making simple fixed rules easier to bypass.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A model must catch suspicious activity without incorrectly blocking genuine customers.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The problem is therefore not just classification, it is reliable decision-making under highly imbalanced data.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26680" y="132588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28432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FRAUD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71432" y="1608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</a:rPr>
              <a:t>Rare but high impact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26680" y="269748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28432" y="29718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NORMALLY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71432" y="29718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</a:rPr>
              <a:t>Large volume of traffic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26680" y="406908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28432" y="43342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OUR GOAL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28432" y="4681728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5233C"/>
                </a:solidFill>
              </a:rPr>
              <a:t>Build a model that flags transactions for review while keeping false alarms under control.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" y="59893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474"/>
                </a:solidFill>
              </a:rPr>
              <a:t>Think of the system as an intelligent “risk filter” placed before the transaction is approved.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33C"/>
                </a:solidFill>
              </a:rPr>
              <a:t>2. Where Can This Idea Be Used?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4"/>
                </a:solidFill>
              </a:rPr>
              <a:t>Potential users of a fraud-risk prediction system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07492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25400" dist="50800" dir="2700000" algn="bl" rotWithShape="0">
              <a:srgbClr val="B9C5D6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17320"/>
            <a:ext cx="109728" cy="16642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C"/>
                </a:solidFill>
              </a:rPr>
              <a:t>Banks &amp; card issuers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474"/>
                </a:solidFill>
              </a:rPr>
              <a:t>Flag suspicious card activity and trigger additional verification.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07492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25400" dist="50800" dir="2700000" algn="bl" rotWithShape="0">
              <a:srgbClr val="B9C5D6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417320"/>
            <a:ext cx="109728" cy="16642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69164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C"/>
                </a:solidFill>
              </a:rPr>
              <a:t>Payment gateways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14884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474"/>
                </a:solidFill>
              </a:rPr>
              <a:t>Score transaction risk before routing or approving payments.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3474720"/>
            <a:ext cx="507492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25400" dist="50800" dir="2700000" algn="bl" rotWithShape="0">
              <a:srgbClr val="B9C5D6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3474720"/>
            <a:ext cx="109728" cy="16642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74904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C"/>
                </a:solidFill>
              </a:rPr>
              <a:t>E-commerce platforms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420624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474"/>
                </a:solidFill>
              </a:rPr>
              <a:t>Identify unusual checkout patterns and account activity.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0" y="3474720"/>
            <a:ext cx="507492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25400" dist="50800" dir="2700000" algn="bl" rotWithShape="0">
              <a:srgbClr val="B9C5D6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474720"/>
            <a:ext cx="109728" cy="16642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74904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C"/>
                </a:solidFill>
              </a:rPr>
              <a:t>Digital wallets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420624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474"/>
                </a:solidFill>
              </a:rPr>
              <a:t>Monitor transaction behavior and detect abnormal spending patterns.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2648" y="59893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474"/>
                </a:solidFill>
              </a:rPr>
              <a:t>For our semester project, we will build a prototype decision-support system rather than a live banking approval engine.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33C"/>
                </a:solidFill>
              </a:rPr>
              <a:t>3. Our Proposed Solution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4"/>
                </a:solidFill>
              </a:rPr>
              <a:t>An end-to-end ML pipeline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874520" cy="22402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5240">
            <a:solidFill>
              <a:srgbClr val="D9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93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C"/>
                </a:solidFill>
              </a:rPr>
              <a:t>Collect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99923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474"/>
                </a:solidFill>
              </a:rPr>
              <a:t>Historical transaction data</a:t>
            </a:r>
          </a:p>
        </p:txBody>
      </p:sp>
      <p:sp>
        <p:nvSpPr>
          <p:cNvPr id="8" name="Text 6"/>
          <p:cNvSpPr/>
          <p:nvPr/>
        </p:nvSpPr>
        <p:spPr>
          <a:xfrm>
            <a:off x="2404872" y="26974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807208" y="1828800"/>
            <a:ext cx="1874520" cy="22402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5240">
            <a:solidFill>
              <a:srgbClr val="D9E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993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44368" y="24688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C"/>
                </a:solidFill>
              </a:rPr>
              <a:t>Prepare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44368" y="299923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474"/>
                </a:solidFill>
              </a:rPr>
              <a:t>Clean, scale &amp; handle imbalance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26974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111496" y="1828800"/>
            <a:ext cx="1874520" cy="22402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5240">
            <a:solidFill>
              <a:srgbClr val="D9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48656" y="1993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48656" y="24688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C"/>
                </a:solidFill>
              </a:rPr>
              <a:t>Learn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48656" y="299923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474"/>
                </a:solidFill>
              </a:rPr>
              <a:t>Train multiple ML models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13448" y="26974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415784" y="1828800"/>
            <a:ext cx="1874520" cy="22402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5240">
            <a:solidFill>
              <a:srgbClr val="D9E1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52944" y="1993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52944" y="24688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C"/>
                </a:solidFill>
              </a:rPr>
              <a:t>Evaluate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552944" y="299923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474"/>
                </a:solidFill>
              </a:rPr>
              <a:t>Precision, recall, F1, ROC-AUC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17736" y="26974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720072" y="1828800"/>
            <a:ext cx="1874520" cy="2240280"/>
          </a:xfrm>
          <a:prstGeom prst="roundRect">
            <a:avLst>
              <a:gd name="adj" fmla="val 3902"/>
            </a:avLst>
          </a:prstGeom>
          <a:solidFill>
            <a:srgbClr val="E0F2FE"/>
          </a:solidFill>
          <a:ln w="15240">
            <a:solidFill>
              <a:srgbClr val="7DD3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57232" y="1993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857232" y="24688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C"/>
                </a:solidFill>
              </a:rPr>
              <a:t>Predict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857232" y="299923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474"/>
                </a:solidFill>
              </a:rPr>
              <a:t>Fraud probability / risk flag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325880" y="4572000"/>
            <a:ext cx="9509760" cy="841248"/>
          </a:xfrm>
          <a:prstGeom prst="roundRect">
            <a:avLst>
              <a:gd name="adj" fmla="val 8696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00200" y="48280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Output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487168" y="480060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33C"/>
                </a:solidFill>
              </a:rPr>
              <a:t>Transaction → fraud probability → risk flag → optional review / verification</a:t>
            </a:r>
            <a:endParaRPr lang="en-US" sz="15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33C"/>
                </a:solidFill>
              </a:rPr>
              <a:t>4. What Data Will We Use?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4"/>
                </a:solidFill>
              </a:rPr>
              <a:t>Transaction-level features become the model’s evidence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658368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25400" dist="50800" dir="2700000" algn="bl" rotWithShape="0">
              <a:srgbClr val="B9C5D6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64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33C"/>
                </a:solidFill>
              </a:rPr>
              <a:t>Typical transaction features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563EB"/>
                </a:solidFill>
              </a:rPr>
              <a:t>Amount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514600" y="22402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033"/>
                </a:solidFill>
              </a:rPr>
              <a:t>How much money was transferred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2679192"/>
            <a:ext cx="5440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8620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563EB"/>
                </a:solidFill>
              </a:rPr>
              <a:t>Time / hour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514600" y="28620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033"/>
                </a:solidFill>
              </a:rPr>
              <a:t>When the transaction happened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14400" y="3300984"/>
            <a:ext cx="5440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4838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563EB"/>
                </a:solidFill>
              </a:rPr>
              <a:t>Location / merchant signals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514600" y="34838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033"/>
                </a:solidFill>
              </a:rPr>
              <a:t>Where or with whom it occurred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14400" y="3922776"/>
            <a:ext cx="5440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1056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563EB"/>
                </a:solidFill>
              </a:rPr>
              <a:t>Historical behavior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514600" y="41056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033"/>
                </a:solidFill>
              </a:rPr>
              <a:t>Patterns relative to previous activity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14400" y="4544568"/>
            <a:ext cx="5440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7274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563EB"/>
                </a:solidFill>
              </a:rPr>
              <a:t>Target label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514600" y="47274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033"/>
                </a:solidFill>
              </a:rPr>
              <a:t>0 = legitimate • 1 = fraudulent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543800" y="1371600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45552" y="16642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7706"/>
                </a:solidFill>
              </a:rPr>
              <a:t>Important issue: class imbalance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845552" y="21031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033"/>
                </a:solidFill>
              </a:rPr>
              <a:t>Fraud examples are usually far fewer than genuine transactions.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543800" y="3136392"/>
            <a:ext cx="3977640" cy="2624328"/>
          </a:xfrm>
          <a:prstGeom prst="roundRect">
            <a:avLst>
              <a:gd name="adj" fmla="val 2787"/>
            </a:avLst>
          </a:prstGeom>
          <a:solidFill>
            <a:srgbClr val="F8FAF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45552" y="34290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233C"/>
                </a:solidFill>
              </a:rPr>
              <a:t>What we will do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845552" y="3886200"/>
            <a:ext cx="31546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172033"/>
                </a:solidFill>
              </a:rPr>
              <a:t>Scale numerical features</a:t>
            </a:r>
            <a:endParaRPr lang="en-US" sz="1240" dirty="0"/>
          </a:p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172033"/>
                </a:solidFill>
              </a:rPr>
              <a:t>Use stratified train/test split</a:t>
            </a:r>
            <a:endParaRPr lang="en-US" sz="1240" dirty="0"/>
          </a:p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172033"/>
                </a:solidFill>
              </a:rPr>
              <a:t>Compare class-weighting / resampling approaches</a:t>
            </a:r>
            <a:endParaRPr lang="en-US" sz="1240" dirty="0"/>
          </a:p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172033"/>
                </a:solidFill>
              </a:rPr>
              <a:t>Avoid leakage between training and test data</a:t>
            </a:r>
            <a:endParaRPr lang="en-US" sz="124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33C"/>
                </a:solidFill>
              </a:rPr>
              <a:t>5. Machine Learning Approach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4"/>
                </a:solidFill>
              </a:rPr>
              <a:t>We will compare multiple algorithms rather than trust a single model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508760"/>
            <a:ext cx="2487168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25400" dist="50800" dir="2700000" algn="bl" rotWithShape="0">
              <a:srgbClr val="B9C5D6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48384" y="1749676"/>
            <a:ext cx="749808" cy="7498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00100" y="1938528"/>
            <a:ext cx="4463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2697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233C"/>
                </a:solidFill>
              </a:rPr>
              <a:t>Logistic Regression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3072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474"/>
                </a:solidFill>
              </a:rPr>
              <a:t>Strong baseline; easy to interpret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47288" y="1508760"/>
            <a:ext cx="2487168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25400" dist="50800" dir="2700000" algn="bl" rotWithShape="0">
              <a:srgbClr val="B9C5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15968" y="1737360"/>
            <a:ext cx="749808" cy="7498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2033327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75888" y="2697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233C"/>
                </a:solidFill>
              </a:rPr>
              <a:t>Decision Tree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75888" y="2923841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4"/>
                </a:solidFill>
              </a:rPr>
              <a:t>Captures rule-like patterns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6208" y="1508760"/>
            <a:ext cx="2487168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25400" dist="50800" dir="2700000" algn="bl" rotWithShape="0">
              <a:srgbClr val="B9C5D6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04888" y="1737360"/>
            <a:ext cx="749808" cy="74980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33488" y="2023437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64808" y="2697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233C"/>
                </a:solidFill>
              </a:rPr>
              <a:t>Random Forest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64808" y="299596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4"/>
                </a:solidFill>
              </a:rPr>
              <a:t>Robust ensemble; handles nonlinear behavior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25128" y="1508760"/>
            <a:ext cx="2487168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25400" dist="50800" dir="2700000" algn="bl" rotWithShape="0">
              <a:srgbClr val="B9C5D6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93808" y="1737360"/>
            <a:ext cx="749808" cy="7498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13264" y="201168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53728" y="2697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233C"/>
                </a:solidFill>
              </a:rPr>
              <a:t>XGBoost (optional)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62872" y="30312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4"/>
                </a:solidFill>
              </a:rPr>
              <a:t>High-performance boosting model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68680" y="4251960"/>
            <a:ext cx="10424160" cy="960120"/>
          </a:xfrm>
          <a:prstGeom prst="roundRect">
            <a:avLst>
              <a:gd name="adj" fmla="val 7619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4590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Model selection principle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409592" y="4567895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33C"/>
                </a:solidFill>
              </a:rPr>
              <a:t>Choose the model that gives the best fraud-detection trade-off - not simply the highest accuracy.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2648" y="59893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474"/>
                </a:solidFill>
              </a:rPr>
              <a:t>For fraud detection, missing fraud can be costly - so recall and precision matter more than raw accuracy.</a:t>
            </a:r>
            <a:endParaRPr lang="en-US" sz="10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33C"/>
                </a:solidFill>
              </a:rPr>
              <a:t>6. How Will We Measure Success?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4"/>
                </a:solidFill>
              </a:rPr>
              <a:t>Evaluation designed for an imbalanced classification problem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7040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636776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700784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Precision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31720" y="16002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72033"/>
                </a:solidFill>
              </a:rPr>
              <a:t>Of transactions flagged as fraud, how many are truly fraud?</a:t>
            </a:r>
            <a:endParaRPr lang="en-US" sz="133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7040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2688336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752344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Recall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31720" y="26517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72033"/>
                </a:solidFill>
              </a:rPr>
              <a:t>Of all actual frauds, how many did we detect?</a:t>
            </a:r>
            <a:endParaRPr lang="en-US" sz="1330" dirty="0"/>
          </a:p>
        </p:txBody>
      </p:sp>
      <p:sp>
        <p:nvSpPr>
          <p:cNvPr id="12" name="Shape 10"/>
          <p:cNvSpPr/>
          <p:nvPr/>
        </p:nvSpPr>
        <p:spPr>
          <a:xfrm>
            <a:off x="685800" y="3474720"/>
            <a:ext cx="7040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3739896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3803904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F1-score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37033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72033"/>
                </a:solidFill>
              </a:rPr>
              <a:t>Balance between precision and recall</a:t>
            </a:r>
            <a:endParaRPr lang="en-US" sz="1330" dirty="0"/>
          </a:p>
        </p:txBody>
      </p:sp>
      <p:sp>
        <p:nvSpPr>
          <p:cNvPr id="16" name="Shape 14"/>
          <p:cNvSpPr/>
          <p:nvPr/>
        </p:nvSpPr>
        <p:spPr>
          <a:xfrm>
            <a:off x="685800" y="4526280"/>
            <a:ext cx="7040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4791456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4855464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ROC-AUC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31720" y="47548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72033"/>
                </a:solidFill>
              </a:rPr>
              <a:t>How well the model separates fraud from genuine transactions</a:t>
            </a:r>
            <a:endParaRPr lang="en-US" sz="1330" dirty="0"/>
          </a:p>
        </p:txBody>
      </p:sp>
      <p:sp>
        <p:nvSpPr>
          <p:cNvPr id="20" name="Shape 18"/>
          <p:cNvSpPr/>
          <p:nvPr/>
        </p:nvSpPr>
        <p:spPr>
          <a:xfrm>
            <a:off x="8001000" y="1371600"/>
            <a:ext cx="3429000" cy="3611880"/>
          </a:xfrm>
          <a:prstGeom prst="roundRect">
            <a:avLst>
              <a:gd name="adj" fmla="val 2133"/>
            </a:avLst>
          </a:prstGeom>
          <a:solidFill>
            <a:srgbClr val="F8FAF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1673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5233C"/>
                </a:solidFill>
              </a:rPr>
              <a:t>Confusion Matrix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366760" y="19933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6474"/>
                </a:solidFill>
              </a:rPr>
              <a:t>Predicted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 rot="16200000">
            <a:off x="8092440" y="3429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474"/>
                </a:solidFill>
              </a:rPr>
              <a:t>Actual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458200" y="2240280"/>
            <a:ext cx="1097280" cy="74980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8200" y="2468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233C"/>
                </a:solidFill>
              </a:rPr>
              <a:t>TN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555480" y="2240280"/>
            <a:ext cx="1097280" cy="74980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55480" y="2468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233C"/>
                </a:solidFill>
              </a:rPr>
              <a:t>FP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458200" y="2990088"/>
            <a:ext cx="1097280" cy="749808"/>
          </a:xfrm>
          <a:prstGeom prst="rect">
            <a:avLst/>
          </a:prstGeom>
          <a:solidFill>
            <a:srgbClr val="FEE2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58200" y="32186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233C"/>
                </a:solidFill>
              </a:rPr>
              <a:t>FN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555480" y="2990088"/>
            <a:ext cx="1097280" cy="749808"/>
          </a:xfrm>
          <a:prstGeom prst="rect">
            <a:avLst/>
          </a:prstGeom>
          <a:solidFill>
            <a:srgbClr val="DCFC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55480" y="32186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233C"/>
                </a:solidFill>
              </a:rPr>
              <a:t>TP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29600" y="39776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233C"/>
                </a:solidFill>
              </a:rPr>
              <a:t>Goal: maximize true fraud detection while keeping false alarms manageable.</a:t>
            </a:r>
            <a:endParaRPr lang="en-US" sz="13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33C"/>
                </a:solidFill>
              </a:rPr>
              <a:t>7. System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4"/>
                </a:solidFill>
              </a:rPr>
              <a:t>How the final prototype will work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965960"/>
            <a:ext cx="18288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25400" dist="50800" dir="2700000" algn="bl" rotWithShape="0">
              <a:srgbClr val="B9C5D6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16736" y="2194560"/>
            <a:ext cx="512064" cy="5120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279806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233C"/>
                </a:solidFill>
              </a:rPr>
              <a:t>Input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6384" y="31546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74"/>
                </a:solidFill>
              </a:rPr>
              <a:t>Transaction details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505456" y="26060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61488" y="1965960"/>
            <a:ext cx="18288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25400" dist="50800" dir="2700000" algn="bl" rotWithShape="0">
              <a:srgbClr val="B9C5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19856" y="2194560"/>
            <a:ext cx="512064" cy="51206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16936" y="279806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233C"/>
                </a:solidFill>
              </a:rPr>
              <a:t>Preprocess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89504" y="31546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74"/>
                </a:solidFill>
              </a:rPr>
              <a:t>Clean + scale + encode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08576" y="26060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64608" y="1965960"/>
            <a:ext cx="18288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25400" dist="50800" dir="2700000" algn="bl" rotWithShape="0">
              <a:srgbClr val="B9C5D6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22976" y="2194560"/>
            <a:ext cx="512064" cy="51206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0056" y="279806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233C"/>
                </a:solidFill>
              </a:rPr>
              <a:t>ML Model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92624" y="31546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74"/>
                </a:solidFill>
              </a:rPr>
              <a:t>Probability of fraud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711696" y="26060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967728" y="1965960"/>
            <a:ext cx="18288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25400" dist="50800" dir="2700000" algn="bl" rotWithShape="0">
              <a:srgbClr val="B9C5D6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26096" y="2194560"/>
            <a:ext cx="512064" cy="51206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23176" y="279806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233C"/>
                </a:solidFill>
              </a:rPr>
              <a:t>Decision Layer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95744" y="31546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74"/>
                </a:solidFill>
              </a:rPr>
              <a:t>Risk threshold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814816" y="26060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070848" y="1965960"/>
            <a:ext cx="18288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blurRad="25400" dist="50800" dir="2700000" algn="bl" rotWithShape="0">
              <a:srgbClr val="B9C5D6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729216" y="2194560"/>
            <a:ext cx="512064" cy="51206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26296" y="279806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233C"/>
                </a:solidFill>
              </a:rPr>
              <a:t>Output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98864" y="31546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74"/>
                </a:solidFill>
              </a:rPr>
              <a:t>Approve / review / flag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97280" y="4343400"/>
            <a:ext cx="9875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89888" y="46177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74"/>
                </a:solidFill>
              </a:rPr>
              <a:t>Example output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743200" y="45720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C"/>
                </a:solidFill>
              </a:rPr>
              <a:t>Fraud probability = 0.91  →  HIGH RISK  →  send for verification / review</a:t>
            </a:r>
            <a:endParaRPr lang="en-US" sz="1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33C"/>
                </a:solidFill>
              </a:rPr>
              <a:t>8. How We Will Implement 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4"/>
                </a:solidFill>
              </a:rPr>
              <a:t>Practical technology stack for a semester-scale prototype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49808" y="132588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389888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Python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3716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Core development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37960" y="1371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4"/>
                </a:solidFill>
              </a:rPr>
              <a:t>Implementation component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9808" y="214884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22199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Pandas / NumPy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21945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Data handling &amp; numerical processing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2194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4"/>
                </a:solidFill>
              </a:rPr>
              <a:t>Implementation component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9808" y="297180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054656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Scikit-learn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30175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Preprocessing, models &amp; evaluation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3017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4"/>
                </a:solidFill>
              </a:rPr>
              <a:t>Implementation component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9808" y="379476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8679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Matplotlib / Seaborn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3840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EDA &amp; result visualization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38404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4"/>
                </a:solidFill>
              </a:rPr>
              <a:t>Implementation component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9808" y="461772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4681728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Flask / Streamlit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34640" y="46634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Optional interactive demo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37960" y="46634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4"/>
                </a:solidFill>
              </a:rPr>
              <a:t>User-facing prototype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0012680" y="1325880"/>
            <a:ext cx="1508760" cy="379476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31552" y="16459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233C"/>
                </a:solidFill>
              </a:rPr>
              <a:t>Project flow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241280" y="224028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87000" y="2331720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33C"/>
                </a:solidFill>
              </a:rPr>
              <a:t>EDA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241280" y="2807208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87000" y="2898648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33C"/>
                </a:solidFill>
              </a:rPr>
              <a:t>Train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241280" y="3374136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87000" y="3465576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33C"/>
                </a:solidFill>
              </a:rPr>
              <a:t>Tune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241280" y="3941064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87000" y="4032504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33C"/>
                </a:solidFill>
              </a:rPr>
              <a:t>Test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241280" y="4507992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0F2FE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87000" y="459943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33C"/>
                </a:solidFill>
              </a:rPr>
              <a:t>Demo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2648" y="59893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474"/>
                </a:solidFill>
              </a:rPr>
              <a:t>The prototype can later be extended into an API or dashboard.</a:t>
            </a:r>
            <a:endParaRPr lang="en-US" sz="10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23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3C5FD"/>
                </a:solidFill>
              </a:rPr>
              <a:t>OUR PROJECT IN ONE SENTENCE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012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“We will build an ML-based fraud-risk detection prototype that learns transaction patterns, handles highly imbalanced data, compares multiple algorithms, and flags suspicious transactions for review.”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3794760"/>
            <a:ext cx="10149840" cy="1097280"/>
          </a:xfrm>
          <a:prstGeom prst="roundRect">
            <a:avLst>
              <a:gd name="adj" fmla="val 6667"/>
            </a:avLst>
          </a:prstGeom>
          <a:solidFill>
            <a:srgbClr val="1E3357"/>
          </a:solidFill>
          <a:ln w="12700">
            <a:solidFill>
              <a:srgbClr val="2E4B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4160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C5FD"/>
                </a:solidFill>
              </a:rPr>
              <a:t>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11680" y="4114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Fraud is rare but costly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3484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3C5FD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92040" y="4160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C5FD"/>
                </a:solidFill>
              </a:rPr>
              <a:t>Solution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1500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ML risk prediction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3524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3C5FD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74152" y="4160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C5FD"/>
                </a:solidFill>
              </a:rPr>
              <a:t>Value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32520" y="4114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Safer digital payments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5532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Thank you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" y="5989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8E6"/>
                </a:solidFill>
              </a:rPr>
              <a:t>Questions &amp; feedback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772</Words>
  <Application>Microsoft Office PowerPoint</Application>
  <PresentationFormat>Widescreen</PresentationFormat>
  <Paragraphs>185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Academic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 using Machine Learning</dc:title>
  <dc:subject>Credit Card Fraud Detection using Machine Learning</dc:subject>
  <dc:creator>Ujjwal Chandravanshi</dc:creator>
  <cp:lastModifiedBy>Ujjwal Chandravanshi</cp:lastModifiedBy>
  <cp:revision>2</cp:revision>
  <dcterms:created xsi:type="dcterms:W3CDTF">2026-08-12T15:57:45Z</dcterms:created>
  <dcterms:modified xsi:type="dcterms:W3CDTF">2026-08-17T06:43:35Z</dcterms:modified>
</cp:coreProperties>
</file>