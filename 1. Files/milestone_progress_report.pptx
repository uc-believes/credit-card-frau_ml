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93" d="100"/>
          <a:sy n="93" d="100"/>
        </p:scale>
        <p:origin x="102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0" Type="http://schemas.openxmlformats.org/officeDocument/2006/relationships/slide" Target="slides/slide69.xml" /><Relationship Id="rId71" Type="http://schemas.openxmlformats.org/officeDocument/2006/relationships/slide" Target="slides/slide70.xml" /><Relationship Id="rId72" Type="http://schemas.openxmlformats.org/officeDocument/2006/relationships/slide" Target="slides/slide71.xml" /><Relationship Id="rId76" Type="http://schemas.openxmlformats.org/officeDocument/2006/relationships/tableStyles" Target="tableStyles.xml" /><Relationship Id="rId75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74" Type="http://schemas.openxmlformats.org/officeDocument/2006/relationships/viewProps" Target="viewProps.xml" /><Relationship Id="rId73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2/17/2018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Fraud</a:t>
            </a:r>
            <a:r>
              <a:rPr/>
              <a:t> </a:t>
            </a:r>
            <a:r>
              <a:rPr/>
              <a:t>Shield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Project</a:t>
            </a:r>
            <a:r>
              <a:rPr/>
              <a:t> </a:t>
            </a:r>
            <a:r>
              <a:rPr/>
              <a:t>Progress</a:t>
            </a:r>
            <a:r>
              <a:rPr/>
              <a:t> </a:t>
            </a:r>
            <a:r>
              <a:rPr/>
              <a:t>Report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Milestone</a:t>
            </a:r>
            <a:r>
              <a:rPr/>
              <a:t> </a:t>
            </a:r>
            <a:r>
              <a:rPr/>
              <a:t>Implementation</a:t>
            </a:r>
            <a:r>
              <a:rPr/>
              <a:t> </a:t>
            </a:r>
            <a:r>
              <a:rPr/>
              <a:t>Report:</a:t>
            </a:r>
            <a:r>
              <a:rPr/>
              <a:t> </a:t>
            </a:r>
            <a:r>
              <a:rPr/>
              <a:t>Phases</a:t>
            </a:r>
            <a:r>
              <a:rPr/>
              <a:t> </a:t>
            </a:r>
            <a:r>
              <a:rPr/>
              <a:t>0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1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Project</a:t>
                      </a:r>
                      <a:r>
                        <a:rPr b="1"/>
                        <a:t> </a:t>
                      </a:r>
                      <a:r>
                        <a:rPr b="1"/>
                        <a:t>Title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Credit</a:t>
                      </a:r>
                      <a:r>
                        <a:rPr/>
                        <a:t> </a:t>
                      </a:r>
                      <a:r>
                        <a:rPr/>
                        <a:t>Card</a:t>
                      </a:r>
                      <a:r>
                        <a:rPr/>
                        <a:t> </a:t>
                      </a:r>
                      <a:r>
                        <a:rPr/>
                        <a:t>Fraud</a:t>
                      </a:r>
                      <a:r>
                        <a:rPr/>
                        <a:t> </a:t>
                      </a:r>
                      <a:r>
                        <a:rPr/>
                        <a:t>Detection</a:t>
                      </a:r>
                      <a:r>
                        <a:rPr/>
                        <a:t> </a:t>
                      </a:r>
                      <a:r>
                        <a:rPr/>
                        <a:t>Using</a:t>
                      </a:r>
                      <a:r>
                        <a:rPr/>
                        <a:t> </a:t>
                      </a:r>
                      <a:r>
                        <a:rPr/>
                        <a:t>Machine</a:t>
                      </a:r>
                      <a:r>
                        <a:rPr/>
                        <a:t> </a:t>
                      </a:r>
                      <a:r>
                        <a:rPr/>
                        <a:t>Learning</a:t>
                      </a:r>
                      <a:r>
                        <a:rPr/>
                        <a:t> </a:t>
                      </a:r>
                      <a:r>
                        <a:rPr/>
                        <a:t>Algorithms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System</a:t>
                      </a:r>
                      <a:r>
                        <a:rPr b="1"/>
                        <a:t> </a:t>
                      </a:r>
                      <a:r>
                        <a:rPr b="1"/>
                        <a:t>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Fraud</a:t>
                      </a:r>
                      <a:r>
                        <a:rPr/>
                        <a:t> </a:t>
                      </a:r>
                      <a:r>
                        <a:rPr/>
                        <a:t>Shield</a:t>
                      </a:r>
                      <a:r>
                        <a:rPr/>
                        <a:t> </a:t>
                      </a:r>
                      <a:r>
                        <a:rPr/>
                        <a:t>—</a:t>
                      </a:r>
                      <a:r>
                        <a:rPr/>
                        <a:t> </a:t>
                      </a:r>
                      <a:r>
                        <a:rPr/>
                        <a:t>Explainable</a:t>
                      </a:r>
                      <a:r>
                        <a:rPr/>
                        <a:t> </a:t>
                      </a:r>
                      <a:r>
                        <a:rPr/>
                        <a:t>&amp;</a:t>
                      </a:r>
                      <a:r>
                        <a:rPr/>
                        <a:t> </a:t>
                      </a:r>
                      <a:r>
                        <a:rPr/>
                        <a:t>Adaptive</a:t>
                      </a:r>
                      <a:r>
                        <a:rPr/>
                        <a:t> </a:t>
                      </a:r>
                      <a:r>
                        <a:rPr/>
                        <a:t>Credit</a:t>
                      </a:r>
                      <a:r>
                        <a:rPr/>
                        <a:t> </a:t>
                      </a:r>
                      <a:r>
                        <a:rPr/>
                        <a:t>Card</a:t>
                      </a:r>
                      <a:r>
                        <a:rPr/>
                        <a:t> </a:t>
                      </a:r>
                      <a:r>
                        <a:rPr/>
                        <a:t>Fraud</a:t>
                      </a:r>
                      <a:r>
                        <a:rPr/>
                        <a:t> </a:t>
                      </a:r>
                      <a:r>
                        <a:rPr/>
                        <a:t>Risk</a:t>
                      </a:r>
                      <a:r>
                        <a:rPr/>
                        <a:t> </a:t>
                      </a:r>
                      <a:r>
                        <a:rPr/>
                        <a:t>Intelligence</a:t>
                      </a:r>
                      <a:r>
                        <a:rPr/>
                        <a:t> </a:t>
                      </a:r>
                      <a:r>
                        <a:rPr/>
                        <a:t>System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Team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Code</a:t>
                      </a:r>
                      <a:r>
                        <a:rPr/>
                        <a:t> </a:t>
                      </a:r>
                      <a:r>
                        <a:rPr/>
                        <a:t>Masala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Members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Akshat</a:t>
                      </a:r>
                      <a:r>
                        <a:rPr/>
                        <a:t> </a:t>
                      </a:r>
                      <a:r>
                        <a:rPr/>
                        <a:t>Mehra</a:t>
                      </a:r>
                      <a:r>
                        <a:rPr/>
                        <a:t> </a:t>
                      </a:r>
                      <a:r>
                        <a:rPr/>
                        <a:t>(BTAD2401008)</a:t>
                      </a:r>
                      <a:r>
                        <a:rPr/>
                        <a:t> </a:t>
                      </a:r>
                      <a:r>
                        <a:rPr/>
                        <a:t>·</a:t>
                      </a:r>
                      <a:r>
                        <a:rPr/>
                        <a:t> </a:t>
                      </a:r>
                      <a:r>
                        <a:rPr/>
                        <a:t>Ujjwal</a:t>
                      </a:r>
                      <a:r>
                        <a:rPr/>
                        <a:t> </a:t>
                      </a:r>
                      <a:r>
                        <a:rPr/>
                        <a:t>Chandravanshi</a:t>
                      </a:r>
                      <a:r>
                        <a:rPr/>
                        <a:t> </a:t>
                      </a:r>
                      <a:r>
                        <a:rPr/>
                        <a:t>(BTAD2401070)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Course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Artificial</a:t>
                      </a:r>
                      <a:r>
                        <a:rPr/>
                        <a:t> </a:t>
                      </a:r>
                      <a:r>
                        <a:rPr/>
                        <a:t>Intelligence</a:t>
                      </a:r>
                      <a:r>
                        <a:rPr/>
                        <a:t> </a:t>
                      </a:r>
                      <a:r>
                        <a:rPr/>
                        <a:t>&amp;</a:t>
                      </a:r>
                      <a:r>
                        <a:rPr/>
                        <a:t> </a:t>
                      </a:r>
                      <a:r>
                        <a:rPr/>
                        <a:t>Data</a:t>
                      </a:r>
                      <a:r>
                        <a:rPr/>
                        <a:t> </a:t>
                      </a:r>
                      <a:r>
                        <a:rPr/>
                        <a:t>Science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Coordinator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Asst.</a:t>
                      </a:r>
                      <a:r>
                        <a:rPr/>
                        <a:t> </a:t>
                      </a:r>
                      <a:r>
                        <a:rPr/>
                        <a:t>Prof. Geetika</a:t>
                      </a:r>
                      <a:r>
                        <a:rPr/>
                        <a:t> </a:t>
                      </a:r>
                      <a:r>
                        <a:rPr/>
                        <a:t>Hazra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Report</a:t>
                      </a:r>
                      <a:r>
                        <a:rPr b="1"/>
                        <a:t> </a:t>
                      </a:r>
                      <a:r>
                        <a:rPr b="1"/>
                        <a:t>Date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September</a:t>
                      </a:r>
                      <a:r>
                        <a:rPr/>
                        <a:t> </a:t>
                      </a:r>
                      <a:r>
                        <a:rPr/>
                        <a:t>9,</a:t>
                      </a:r>
                      <a:r>
                        <a:rPr/>
                        <a:t> </a:t>
                      </a:r>
                      <a:r>
                        <a:rPr/>
                        <a:t>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Phases</a:t>
                      </a:r>
                      <a:r>
                        <a:rPr b="1"/>
                        <a:t> </a:t>
                      </a:r>
                      <a:r>
                        <a:rPr b="1"/>
                        <a:t>Covered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Phase</a:t>
                      </a:r>
                      <a:r>
                        <a:rPr/>
                        <a:t> </a:t>
                      </a:r>
                      <a:r>
                        <a:rPr/>
                        <a:t>0</a:t>
                      </a:r>
                      <a:r>
                        <a:rPr/>
                        <a:t> </a:t>
                      </a:r>
                      <a:r>
                        <a:rPr/>
                        <a:t>—</a:t>
                      </a:r>
                      <a:r>
                        <a:rPr/>
                        <a:t> </a:t>
                      </a:r>
                      <a:r>
                        <a:rPr/>
                        <a:t>Foundation</a:t>
                      </a:r>
                      <a:r>
                        <a:rPr/>
                        <a:t> </a:t>
                      </a:r>
                      <a:r>
                        <a:rPr/>
                        <a:t>&amp;</a:t>
                      </a:r>
                      <a:r>
                        <a:rPr/>
                        <a:t> </a:t>
                      </a:r>
                      <a:r>
                        <a:rPr/>
                        <a:t>Environment</a:t>
                      </a:r>
                      <a:r>
                        <a:rPr/>
                        <a:t> </a:t>
                      </a:r>
                      <a:r>
                        <a:rPr/>
                        <a:t>·</a:t>
                      </a:r>
                      <a:r>
                        <a:rPr/>
                        <a:t> </a:t>
                      </a:r>
                      <a:r>
                        <a:rPr/>
                        <a:t>Phase</a:t>
                      </a:r>
                      <a:r>
                        <a:rPr/>
                        <a:t> </a:t>
                      </a:r>
                      <a:r>
                        <a:rPr/>
                        <a:t>1</a:t>
                      </a:r>
                      <a:r>
                        <a:rPr/>
                        <a:t> </a:t>
                      </a:r>
                      <a:r>
                        <a:rPr/>
                        <a:t>—</a:t>
                      </a:r>
                      <a:r>
                        <a:rPr/>
                        <a:t> </a:t>
                      </a:r>
                      <a:r>
                        <a:rPr/>
                        <a:t>Data</a:t>
                      </a:r>
                      <a:r>
                        <a:rPr/>
                        <a:t> </a:t>
                      </a:r>
                      <a:r>
                        <a:rPr/>
                        <a:t>Engineering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Status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Both</a:t>
                      </a:r>
                      <a:r>
                        <a:rPr/>
                        <a:t> </a:t>
                      </a:r>
                      <a:r>
                        <a:rPr/>
                        <a:t>phases</a:t>
                      </a:r>
                      <a:r>
                        <a:rPr/>
                        <a:t> </a:t>
                      </a:r>
                      <a:r>
                        <a:rPr b="1"/>
                        <a:t>complete</a:t>
                      </a:r>
                      <a:r>
                        <a:rPr b="1"/>
                        <a:t> </a:t>
                      </a:r>
                      <a:r>
                        <a:rPr b="1"/>
                        <a:t>and</a:t>
                      </a:r>
                      <a:r>
                        <a:rPr b="1"/>
                        <a:t> </a:t>
                      </a:r>
                      <a:r>
                        <a:rPr b="1"/>
                        <a:t>verified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1270000" indent="0">
              <a:buNone/>
            </a:pPr>
            <a:r>
              <a:rPr sz="2000" b="1"/>
              <a:t>Academic Disclaimer</a:t>
            </a:r>
            <a:r>
              <a:rPr sz="2000"/>
              <a:t>: This system is an academic prototype for educational purposes only. It is NOT intended for real banking or financial deployment.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Table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AutoNum type="arabicPeriod"/>
            </a:pPr>
            <a:r>
              <a:rPr/>
              <a:t>Executive Summary</a:t>
            </a:r>
          </a:p>
          <a:p>
            <a:pPr lvl="1">
              <a:buAutoNum type="arabicPeriod"/>
            </a:pPr>
            <a:r>
              <a:rPr/>
              <a:t>Project Vision &amp; Architecture</a:t>
            </a:r>
          </a:p>
          <a:p>
            <a:pPr lvl="1">
              <a:buAutoNum type="arabicPeriod"/>
            </a:pPr>
            <a:r>
              <a:rPr/>
              <a:t>Phase 0: Foundation &amp; Environment</a:t>
            </a:r>
          </a:p>
          <a:p>
            <a:pPr lvl="1">
              <a:buAutoNum type="arabicPeriod"/>
            </a:pPr>
            <a:r>
              <a:rPr/>
              <a:t>Dataset Acquisition &amp; Assessment</a:t>
            </a:r>
          </a:p>
          <a:p>
            <a:pPr lvl="1">
              <a:buAutoNum type="arabicPeriod"/>
            </a:pPr>
            <a:r>
              <a:rPr/>
              <a:t>Phase 1: Data Engineering</a:t>
            </a:r>
          </a:p>
          <a:p>
            <a:pPr lvl="1">
              <a:buAutoNum type="arabicPeriod"/>
            </a:pPr>
            <a:r>
              <a:rPr/>
              <a:t>Feature Engineering</a:t>
            </a:r>
          </a:p>
          <a:p>
            <a:pPr lvl="1">
              <a:buAutoNum type="arabicPeriod"/>
            </a:pPr>
            <a:r>
              <a:rPr/>
              <a:t>Preprocessing Pipeline Design</a:t>
            </a:r>
          </a:p>
          <a:p>
            <a:pPr lvl="1">
              <a:buAutoNum type="arabicPeriod"/>
            </a:pPr>
            <a:r>
              <a:rPr/>
              <a:t>Anti-Leakage Verification</a:t>
            </a:r>
          </a:p>
          <a:p>
            <a:pPr lvl="1">
              <a:buAutoNum type="arabicPeriod"/>
            </a:pPr>
            <a:r>
              <a:rPr/>
              <a:t>Test Suite Results</a:t>
            </a:r>
          </a:p>
          <a:p>
            <a:pPr lvl="1">
              <a:buAutoNum type="arabicPeriod"/>
            </a:pPr>
            <a:r>
              <a:rPr/>
              <a:t>Deliverables Inventory</a:t>
            </a:r>
          </a:p>
          <a:p>
            <a:pPr lvl="1">
              <a:buAutoNum type="arabicPeriod"/>
            </a:pPr>
            <a:r>
              <a:rPr/>
              <a:t>Verified Numbers Summary</a:t>
            </a:r>
          </a:p>
          <a:p>
            <a:pPr lvl="1">
              <a:buAutoNum type="arabicPeriod"/>
            </a:pPr>
            <a:r>
              <a:rPr/>
              <a:t>Next Steps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1.</a:t>
            </a:r>
            <a:r>
              <a:rPr/>
              <a:t> </a:t>
            </a:r>
            <a:r>
              <a:rPr/>
              <a:t>Executive</a:t>
            </a:r>
            <a:r>
              <a:rPr/>
              <a:t> </a:t>
            </a:r>
            <a:r>
              <a:rPr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Two implementation phases of the Fraud Shield system have been completed and fully verified. The work covered environment setup, dataset acquisition, schema validation, statistical analysis, feature engineering, a reproducible leakage-safe preprocessing pipeline, and a 59-test automated test suite.</a:t>
            </a:r>
          </a:p>
          <a:p>
            <a:pPr lvl="0" marL="0" indent="0">
              <a:buNone/>
            </a:pPr>
            <a:r>
              <a:rPr/>
              <a:t>All numbers presented in this report are </a:t>
            </a:r>
            <a:r>
              <a:rPr b="1"/>
              <a:t>verified against the actual dataset</a:t>
            </a:r>
            <a:r>
              <a:rPr/>
              <a:t>. No statistics have been estimated, fabricated, or assumed.</a:t>
            </a:r>
          </a:p>
          <a:p>
            <a:pPr lvl="0" marL="0" indent="0">
              <a:buNone/>
            </a:pPr>
            <a:r>
              <a:rPr b="1"/>
              <a:t>Key accomplishments:</a:t>
            </a:r>
          </a:p>
          <a:p>
            <a:pPr lvl="1"/>
            <a:r>
              <a:rPr/>
              <a:t>Full project scaffold (27 directories, all modules initialized)</a:t>
            </a:r>
          </a:p>
          <a:p>
            <a:pPr lvl="1"/>
            <a:r>
              <a:rPr/>
              <a:t>Real dataset obtained, inspected, and documented: 284,807 transactions</a:t>
            </a:r>
          </a:p>
          <a:p>
            <a:pPr lvl="1"/>
            <a:r>
              <a:rPr/>
              <a:t>Class imbalance quantified: 1 fraud per 577 legitimate transactions</a:t>
            </a:r>
          </a:p>
          <a:p>
            <a:pPr lvl="1"/>
            <a:r>
              <a:rPr/>
              <a:t>Three derived features created with data-backed statistical rationale</a:t>
            </a:r>
          </a:p>
          <a:p>
            <a:pPr lvl="1"/>
            <a:r>
              <a:rPr/>
              <a:t>Leakage-safe sklearn Pipeline fitted on training data only</a:t>
            </a:r>
          </a:p>
          <a:p>
            <a:pPr lvl="1"/>
            <a:r>
              <a:rPr/>
              <a:t>Stratified 60/20/20 train/val/test split with verified stratification</a:t>
            </a:r>
          </a:p>
          <a:p>
            <a:pPr lvl="1"/>
            <a:r>
              <a:rPr/>
              <a:t>Pipeline serialized to disk (2,896 bytes); load-transform consistency confirmed (max diff = 0.00e+00)</a:t>
            </a:r>
          </a:p>
          <a:p>
            <a:pPr lvl="1"/>
            <a:r>
              <a:rPr b="1"/>
              <a:t>59 automated tests — all passing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2.</a:t>
            </a:r>
            <a:r>
              <a:rPr/>
              <a:t> </a:t>
            </a:r>
            <a:r>
              <a:rPr/>
              <a:t>Project</a:t>
            </a:r>
            <a:r>
              <a:rPr/>
              <a:t> </a:t>
            </a:r>
            <a:r>
              <a:rPr/>
              <a:t>Vision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Fraud Shield is designed as a nine-layer system:</a:t>
            </a:r>
          </a:p>
          <a:p>
            <a:pPr lvl="0" marL="1270000" indent="0">
              <a:buNone/>
            </a:pPr>
            <a:r>
              <a:rPr sz="1800">
                <a:latin typeface="Courier"/>
              </a:rPr>
              <a:t>Input Transaction
      |
      v
  Data Loader &amp; Validator         [Phase 1 - COMPLETE]
      |
      v
  Feature Engineering             [Phase 1 - COMPLETE]
      |
      v
  Preprocessing Pipeline          [Phase 1 - COMPLETE]
      |
      v
  Model Training (LR/DT/RF/XGB)  [Phase 2 - Next]
      |
      v
  Evaluation &amp; Selection          [Phase 2 - Next]
      |
      v
  Risk Engine                     [Phase 3 - Planned]
      |
      v
  SHAP Explainability             [Phase 3 - Planned]
      |
      v
  Flask Dashboard                 [Phase 4 - Planned]</a:t>
            </a:r>
          </a:p>
          <a:p>
            <a:pPr lvl="0" marL="0" indent="0">
              <a:buNone/>
            </a:pPr>
            <a:r>
              <a:rPr b="1"/>
              <a:t>Model Selection Criterion:</a:t>
            </a:r>
            <a:r>
              <a:rPr/>
              <a:t> Weighted composite score</a:t>
            </a:r>
            <a:br/>
            <a:r>
              <a:rPr sz="1800">
                <a:latin typeface="Courier"/>
              </a:rPr>
              <a:t>Score = 0.35 × F2 + 0.30 × PR-AUC + 0.20 × ROC-AUC + 0.15 × F1</a:t>
            </a:r>
          </a:p>
          <a:p>
            <a:pPr lvl="0" marL="0" indent="0">
              <a:buNone/>
            </a:pPr>
            <a:r>
              <a:rPr/>
              <a:t>F2-score is the primary metric (recall-weighted) because missing a fraud case is costlier than a false alarm in a detection system.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3.</a:t>
            </a:r>
            <a:r>
              <a:rPr/>
              <a:t> </a:t>
            </a:r>
            <a:r>
              <a:rPr/>
              <a:t>Phase</a:t>
            </a:r>
            <a:r>
              <a:rPr/>
              <a:t> </a:t>
            </a:r>
            <a:r>
              <a:rPr/>
              <a:t>0:</a:t>
            </a:r>
            <a:r>
              <a:rPr/>
              <a:t> </a:t>
            </a:r>
            <a:r>
              <a:rPr/>
              <a:t>Foundation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3.1 Workspace State Before Work Began</a:t>
            </a:r>
          </a:p>
          <a:p>
            <a:pPr lvl="0" marL="0" indent="0">
              <a:buNone/>
            </a:pPr>
            <a:r>
              <a:rPr/>
              <a:t>The workspace was a clean slate: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Status</a:t>
                      </a:r>
                      <a:r>
                        <a:rPr/>
                        <a:t> </a:t>
                      </a:r>
                      <a:r>
                        <a:rPr/>
                        <a:t>at</a:t>
                      </a:r>
                      <a:r>
                        <a:rPr/>
                        <a:t> </a:t>
                      </a:r>
                      <a:r>
                        <a:rPr/>
                        <a:t>Start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codes/</a:t>
                      </a:r>
                      <a:r>
                        <a:rPr/>
                        <a:t> </a:t>
                      </a:r>
                      <a:r>
                        <a:rPr/>
                        <a:t>directory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Empty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files/</a:t>
                      </a:r>
                      <a:r>
                        <a:rPr/>
                        <a:t> </a:t>
                      </a:r>
                      <a:r>
                        <a:rPr/>
                        <a:t>directory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5</a:t>
                      </a:r>
                      <a:r>
                        <a:rPr/>
                        <a:t> </a:t>
                      </a:r>
                      <a:r>
                        <a:rPr/>
                        <a:t>reference</a:t>
                      </a:r>
                      <a:r>
                        <a:rPr/>
                        <a:t> </a:t>
                      </a:r>
                      <a:r>
                        <a:rPr/>
                        <a:t>documents</a:t>
                      </a:r>
                      <a:r>
                        <a:rPr/>
                        <a:t> </a:t>
                      </a:r>
                      <a:r>
                        <a:rPr/>
                        <a:t>only</a:t>
                      </a:r>
                      <a:r>
                        <a:rPr/>
                        <a:t> </a:t>
                      </a:r>
                      <a:r>
                        <a:rPr/>
                        <a:t>(milestone</a:t>
                      </a:r>
                      <a:r>
                        <a:rPr/>
                        <a:t> </a:t>
                      </a:r>
                      <a:r>
                        <a:rPr/>
                        <a:t>PDFs,</a:t>
                      </a:r>
                      <a:r>
                        <a:rPr/>
                        <a:t> </a:t>
                      </a:r>
                      <a:r>
                        <a:rPr/>
                        <a:t>PPTX,</a:t>
                      </a:r>
                      <a:r>
                        <a:rPr/>
                        <a:t> </a:t>
                      </a:r>
                      <a:r>
                        <a:rPr/>
                        <a:t>thumbnail)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Dataset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Not</a:t>
                      </a:r>
                      <a:r>
                        <a:rPr/>
                        <a:t> </a:t>
                      </a:r>
                      <a:r>
                        <a:rPr/>
                        <a:t>present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Python</a:t>
                      </a:r>
                      <a:r>
                        <a:rPr/>
                        <a:t> </a:t>
                      </a:r>
                      <a:r>
                        <a:rPr/>
                        <a:t>ML</a:t>
                      </a:r>
                      <a:r>
                        <a:rPr/>
                        <a:t> </a:t>
                      </a:r>
                      <a:r>
                        <a:rPr/>
                        <a:t>packages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scikit-learn,</a:t>
                      </a:r>
                      <a:r>
                        <a:rPr/>
                        <a:t> </a:t>
                      </a:r>
                      <a:r>
                        <a:rPr/>
                        <a:t>XGBoost,</a:t>
                      </a:r>
                      <a:r>
                        <a:rPr/>
                        <a:t> </a:t>
                      </a:r>
                      <a:r>
                        <a:rPr/>
                        <a:t>SHAP</a:t>
                      </a:r>
                      <a:r>
                        <a:rPr/>
                        <a:t> </a:t>
                      </a:r>
                      <a:r>
                        <a:rPr/>
                        <a:t>—</a:t>
                      </a:r>
                      <a:r>
                        <a:rPr/>
                        <a:t> </a:t>
                      </a:r>
                      <a:r>
                        <a:rPr/>
                        <a:t>not</a:t>
                      </a:r>
                      <a:r>
                        <a:rPr/>
                        <a:t> </a:t>
                      </a:r>
                      <a:r>
                        <a:rPr/>
                        <a:t>installed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Project</a:t>
                      </a:r>
                      <a:r>
                        <a:rPr/>
                        <a:t> </a:t>
                      </a:r>
                      <a:r>
                        <a:rPr/>
                        <a:t>code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None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3.2 Reference Documents Reviewed</a:t>
            </a:r>
          </a:p>
          <a:p>
            <a:pPr lvl="0" marL="0" indent="0">
              <a:buNone/>
            </a:pPr>
            <a:r>
              <a:rPr/>
              <a:t>Both milestone documents were read in full before any code was written: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Document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Content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Milestone 1.pdf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Problem</a:t>
                      </a:r>
                      <a:r>
                        <a:rPr/>
                        <a:t> </a:t>
                      </a:r>
                      <a:r>
                        <a:rPr/>
                        <a:t>statement,</a:t>
                      </a:r>
                      <a:r>
                        <a:rPr/>
                        <a:t> </a:t>
                      </a:r>
                      <a:r>
                        <a:rPr/>
                        <a:t>ML</a:t>
                      </a:r>
                      <a:r>
                        <a:rPr/>
                        <a:t> </a:t>
                      </a:r>
                      <a:r>
                        <a:rPr/>
                        <a:t>approach</a:t>
                      </a:r>
                      <a:r>
                        <a:rPr/>
                        <a:t> </a:t>
                      </a:r>
                      <a:r>
                        <a:rPr/>
                        <a:t>(LR/DT/RF/XGBoost),</a:t>
                      </a:r>
                      <a:r>
                        <a:rPr/>
                        <a:t> </a:t>
                      </a:r>
                      <a:r>
                        <a:rPr/>
                        <a:t>evaluation</a:t>
                      </a:r>
                      <a:r>
                        <a:rPr/>
                        <a:t> </a:t>
                      </a:r>
                      <a:r>
                        <a:rPr/>
                        <a:t>metrics,</a:t>
                      </a:r>
                      <a:r>
                        <a:rPr/>
                        <a:t> </a:t>
                      </a:r>
                      <a:r>
                        <a:rPr/>
                        <a:t>technology</a:t>
                      </a:r>
                      <a:r>
                        <a:rPr/>
                        <a:t> </a:t>
                      </a:r>
                      <a:r>
                        <a:rPr/>
                        <a:t>stack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Milestone 2.pdf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9-step</a:t>
                      </a:r>
                      <a:r>
                        <a:rPr/>
                        <a:t> </a:t>
                      </a:r>
                      <a:r>
                        <a:rPr/>
                        <a:t>end-to-end</a:t>
                      </a:r>
                      <a:r>
                        <a:rPr/>
                        <a:t> </a:t>
                      </a:r>
                      <a:r>
                        <a:rPr/>
                        <a:t>workflow:</a:t>
                      </a:r>
                      <a:r>
                        <a:rPr/>
                        <a:t> </a:t>
                      </a:r>
                      <a:r>
                        <a:rPr/>
                        <a:t>data</a:t>
                      </a:r>
                      <a:r>
                        <a:rPr/>
                        <a:t> </a:t>
                      </a:r>
                      <a:r>
                        <a:rPr/>
                        <a:t>→</a:t>
                      </a:r>
                      <a:r>
                        <a:rPr/>
                        <a:t> </a:t>
                      </a:r>
                      <a:r>
                        <a:rPr/>
                        <a:t>clean</a:t>
                      </a:r>
                      <a:r>
                        <a:rPr/>
                        <a:t> </a:t>
                      </a:r>
                      <a:r>
                        <a:rPr/>
                        <a:t>→</a:t>
                      </a:r>
                      <a:r>
                        <a:rPr/>
                        <a:t> </a:t>
                      </a:r>
                      <a:r>
                        <a:rPr/>
                        <a:t>preprocess</a:t>
                      </a:r>
                      <a:r>
                        <a:rPr/>
                        <a:t> </a:t>
                      </a:r>
                      <a:r>
                        <a:rPr/>
                        <a:t>→</a:t>
                      </a:r>
                      <a:r>
                        <a:rPr/>
                        <a:t> </a:t>
                      </a:r>
                      <a:r>
                        <a:rPr/>
                        <a:t>balance</a:t>
                      </a:r>
                      <a:r>
                        <a:rPr/>
                        <a:t> </a:t>
                      </a:r>
                      <a:r>
                        <a:rPr/>
                        <a:t>→</a:t>
                      </a:r>
                      <a:r>
                        <a:rPr/>
                        <a:t> </a:t>
                      </a:r>
                      <a:r>
                        <a:rPr/>
                        <a:t>split</a:t>
                      </a:r>
                      <a:r>
                        <a:rPr/>
                        <a:t> </a:t>
                      </a:r>
                      <a:r>
                        <a:rPr/>
                        <a:t>→</a:t>
                      </a:r>
                      <a:r>
                        <a:rPr/>
                        <a:t> </a:t>
                      </a:r>
                      <a:r>
                        <a:rPr/>
                        <a:t>train</a:t>
                      </a:r>
                      <a:r>
                        <a:rPr/>
                        <a:t> </a:t>
                      </a:r>
                      <a:r>
                        <a:rPr/>
                        <a:t>→</a:t>
                      </a:r>
                      <a:r>
                        <a:rPr/>
                        <a:t> </a:t>
                      </a:r>
                      <a:r>
                        <a:rPr/>
                        <a:t>evaluate</a:t>
                      </a:r>
                      <a:r>
                        <a:rPr/>
                        <a:t> </a:t>
                      </a:r>
                      <a:r>
                        <a:rPr/>
                        <a:t>→</a:t>
                      </a:r>
                      <a:r>
                        <a:rPr/>
                        <a:t> </a:t>
                      </a:r>
                      <a:r>
                        <a:rPr/>
                        <a:t>select</a:t>
                      </a:r>
                      <a:r>
                        <a:rPr/>
                        <a:t> </a:t>
                      </a:r>
                      <a:r>
                        <a:rPr/>
                        <a:t>→</a:t>
                      </a:r>
                      <a:r>
                        <a:rPr/>
                        <a:t> </a:t>
                      </a:r>
                      <a:r>
                        <a:rPr/>
                        <a:t>predict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3.3 Project Structure Created</a:t>
            </a:r>
          </a:p>
          <a:p>
            <a:pPr lvl="0" marL="0" indent="0">
              <a:buNone/>
            </a:pPr>
            <a:r>
              <a:rPr/>
              <a:t>The following directory tree was scaffolded (27 directories):</a:t>
            </a:r>
          </a:p>
          <a:p>
            <a:pPr lvl="0" marL="1270000" indent="0">
              <a:buNone/>
            </a:pPr>
            <a:r>
              <a:rPr sz="1800">
                <a:latin typeface="Courier"/>
              </a:rPr>
              <a:t>credit card fraud/
├── data/raw/              ← Dataset storage
├── data/processed/        ← Processed splits
├── notebooks/
├── src/
│   ├── data/              ← Loader, Validator
│   ├── features/          ← Engineering, Pipeline
│   ├── models/            ← LR, DT, RF, XGBoost
│   ├── evaluation/        ← Metrics, Threshold, Comparison
│   ├── explainability/    ← SHAP
│   ├── monitoring/        ← Drift detection
│   ├── risk/              ← Risk engine
│   └── utils/             ← Config, Logger, Serialization
├── artifacts/
│   ├── models/
│   ├── pipelines/         ← Fitted pipeline (SAVED)
│   ├── metrics/
│   ├── plots/
│   └── reports/
├── app/                   ← Flask dashboard (Phase 4)
├── tests/                 ← 59 automated tests
├── configs/config.yaml    ← Single source of truth
├── docs/                  ← 5 documentation files
├── scripts/               ← CLI scripts
├── requirements.txt
└── README.md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3.4 Environment Verification</a:t>
            </a:r>
          </a:p>
          <a:p>
            <a:pPr lvl="0" marL="0" indent="0">
              <a:buNone/>
            </a:pPr>
            <a:r>
              <a:rPr/>
              <a:t>All required packages confirmed installed and functional: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Purpose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scikit-learn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1.9.0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ML</a:t>
                      </a:r>
                      <a:r>
                        <a:rPr/>
                        <a:t> </a:t>
                      </a:r>
                      <a:r>
                        <a:rPr/>
                        <a:t>models,</a:t>
                      </a:r>
                      <a:r>
                        <a:rPr/>
                        <a:t> </a:t>
                      </a:r>
                      <a:r>
                        <a:rPr/>
                        <a:t>pipeline,</a:t>
                      </a:r>
                      <a:r>
                        <a:rPr/>
                        <a:t> </a:t>
                      </a:r>
                      <a:r>
                        <a:rPr/>
                        <a:t>evaluation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XGBoost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3.4.1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Gradient</a:t>
                      </a:r>
                      <a:r>
                        <a:rPr/>
                        <a:t> </a:t>
                      </a:r>
                      <a:r>
                        <a:rPr/>
                        <a:t>boosting</a:t>
                      </a:r>
                      <a:r>
                        <a:rPr/>
                        <a:t> </a:t>
                      </a:r>
                      <a:r>
                        <a:rPr/>
                        <a:t>model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SHAP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0.52.0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Explainability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imbalanced-learn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0.14.2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SMOTE</a:t>
                      </a:r>
                      <a:r>
                        <a:rPr/>
                        <a:t> </a:t>
                      </a:r>
                      <a:r>
                        <a:rPr/>
                        <a:t>(optional)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joblib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1.6.0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Model</a:t>
                      </a:r>
                      <a:r>
                        <a:rPr/>
                        <a:t> </a:t>
                      </a:r>
                      <a:r>
                        <a:rPr/>
                        <a:t>serialization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seaborn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0.13.2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Visualization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pandas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3.0.5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Data</a:t>
                      </a:r>
                      <a:r>
                        <a:rPr/>
                        <a:t> </a:t>
                      </a:r>
                      <a:r>
                        <a:rPr/>
                        <a:t>manipulation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numpy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2.2.6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Numerical</a:t>
                      </a:r>
                      <a:r>
                        <a:rPr/>
                        <a:t> </a:t>
                      </a:r>
                      <a:r>
                        <a:rPr/>
                        <a:t>operations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Flask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3.1.1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Web</a:t>
                      </a:r>
                      <a:r>
                        <a:rPr/>
                        <a:t> </a:t>
                      </a:r>
                      <a:r>
                        <a:rPr/>
                        <a:t>dashboard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PyYAML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6.0.2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Configuration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pyarrow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latest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Parquet</a:t>
                      </a:r>
                      <a:r>
                        <a:rPr/>
                        <a:t> </a:t>
                      </a:r>
                      <a:r>
                        <a:rPr/>
                        <a:t>file</a:t>
                      </a:r>
                      <a:r>
                        <a:rPr/>
                        <a:t> </a:t>
                      </a:r>
                      <a:r>
                        <a:rPr/>
                        <a:t>I/O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pytest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9.1.1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Testing</a:t>
                      </a:r>
                      <a:r>
                        <a:rPr/>
                        <a:t> </a:t>
                      </a:r>
                      <a:r>
                        <a:rPr/>
                        <a:t>framework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4.</a:t>
            </a:r>
            <a:r>
              <a:rPr/>
              <a:t> </a:t>
            </a:r>
            <a:r>
              <a:rPr/>
              <a:t>Dataset</a:t>
            </a:r>
            <a:r>
              <a:rPr/>
              <a:t> </a:t>
            </a:r>
            <a:r>
              <a:rPr/>
              <a:t>Acquisition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4.1 Dataset Identity</a:t>
            </a:r>
          </a:p>
          <a:p>
            <a:pPr lvl="0" marL="0" indent="0">
              <a:buNone/>
            </a:pPr>
            <a:r>
              <a:rPr/>
              <a:t>The standard benchmark dataset for this problem domain was obtained: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Source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Kaggle</a:t>
                      </a:r>
                      <a:r>
                        <a:rPr/>
                        <a:t> </a:t>
                      </a:r>
                      <a:r>
                        <a:rPr/>
                        <a:t>—</a:t>
                      </a:r>
                      <a:r>
                        <a:rPr/>
                        <a:t> </a:t>
                      </a:r>
                      <a:r>
                        <a:rPr/>
                        <a:t>ULB</a:t>
                      </a:r>
                      <a:r>
                        <a:rPr/>
                        <a:t> </a:t>
                      </a:r>
                      <a:r>
                        <a:rPr/>
                        <a:t>Machine</a:t>
                      </a:r>
                      <a:r>
                        <a:rPr/>
                        <a:t> </a:t>
                      </a:r>
                      <a:r>
                        <a:rPr/>
                        <a:t>Learning</a:t>
                      </a:r>
                      <a:r>
                        <a:rPr/>
                        <a:t> </a:t>
                      </a:r>
                      <a:r>
                        <a:rPr/>
                        <a:t>Group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URL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https://www.kaggle.com/datasets/mlg-ulb/creditcardfraud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File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creditcard.csv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File</a:t>
                      </a:r>
                      <a:r>
                        <a:rPr b="1"/>
                        <a:t> </a:t>
                      </a:r>
                      <a:r>
                        <a:rPr b="1"/>
                        <a:t>size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143</a:t>
                      </a:r>
                      <a:r>
                        <a:rPr/>
                        <a:t> </a:t>
                      </a:r>
                      <a:r>
                        <a:rPr/>
                        <a:t>MB</a:t>
                      </a:r>
                      <a:r>
                        <a:rPr/>
                        <a:t> </a:t>
                      </a:r>
                      <a:r>
                        <a:rPr/>
                        <a:t>(zipped:</a:t>
                      </a:r>
                      <a:r>
                        <a:rPr/>
                        <a:t> </a:t>
                      </a:r>
                      <a:r>
                        <a:rPr/>
                        <a:t>65</a:t>
                      </a:r>
                      <a:r>
                        <a:rPr/>
                        <a:t> </a:t>
                      </a:r>
                      <a:r>
                        <a:rPr/>
                        <a:t>MB)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Citation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Dal</a:t>
                      </a:r>
                      <a:r>
                        <a:rPr/>
                        <a:t> </a:t>
                      </a:r>
                      <a:r>
                        <a:rPr/>
                        <a:t>Pozzolo</a:t>
                      </a:r>
                      <a:r>
                        <a:rPr/>
                        <a:t> </a:t>
                      </a:r>
                      <a:r>
                        <a:rPr/>
                        <a:t>et</a:t>
                      </a:r>
                      <a:r>
                        <a:rPr/>
                        <a:t> </a:t>
                      </a:r>
                      <a:r>
                        <a:rPr/>
                        <a:t>al.,</a:t>
                      </a:r>
                      <a:r>
                        <a:rPr/>
                        <a:t> </a:t>
                      </a:r>
                      <a:r>
                        <a:rPr/>
                        <a:t>2015</a:t>
                      </a:r>
                      <a:r>
                        <a:rPr/>
                        <a:t> </a:t>
                      </a:r>
                      <a:r>
                        <a:rPr/>
                        <a:t>IEEE</a:t>
                      </a:r>
                      <a:r>
                        <a:rPr/>
                        <a:t> </a:t>
                      </a:r>
                      <a:r>
                        <a:rPr/>
                        <a:t>SSCI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4.2 Schema Inspection (Verified)</a:t>
            </a:r>
          </a:p>
          <a:p>
            <a:pPr lvl="0" marL="0" indent="0">
              <a:buNone/>
            </a:pPr>
            <a:r>
              <a:rPr/>
              <a:t>All 31 columns confirmed present with correct types: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Column(s)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Treatment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Time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float64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Scale</a:t>
                      </a:r>
                      <a:r>
                        <a:rPr/>
                        <a:t> </a:t>
                      </a:r>
                      <a:r>
                        <a:rPr/>
                        <a:t>+</a:t>
                      </a:r>
                      <a:r>
                        <a:rPr/>
                        <a:t> </a:t>
                      </a:r>
                      <a:r>
                        <a:rPr/>
                        <a:t>engineer</a:t>
                      </a:r>
                      <a:r>
                        <a:rPr/>
                        <a:t> </a:t>
                      </a:r>
                      <a:r>
                        <a:rPr/>
                        <a:t>to</a:t>
                      </a:r>
                      <a:r>
                        <a:rPr/>
                        <a:t> </a:t>
                      </a:r>
                      <a:r>
                        <a:rPr sz="1800">
                          <a:latin typeface="Courier"/>
                        </a:rPr>
                        <a:t>hour_of_day</a:t>
                      </a:r>
                      <a:r>
                        <a:rPr/>
                        <a:t>,</a:t>
                      </a:r>
                      <a:r>
                        <a:rPr/>
                        <a:t> </a:t>
                      </a:r>
                      <a:r>
                        <a:rPr sz="1800">
                          <a:latin typeface="Courier"/>
                        </a:rPr>
                        <a:t>is_night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V1</a:t>
                      </a:r>
                      <a:r>
                        <a:rPr/>
                        <a:t> </a:t>
                      </a:r>
                      <a:r>
                        <a:rPr/>
                        <a:t>–</a:t>
                      </a:r>
                      <a:r>
                        <a:rPr/>
                        <a:t> </a:t>
                      </a:r>
                      <a:r>
                        <a:rPr sz="1800">
                          <a:latin typeface="Courier"/>
                        </a:rPr>
                        <a:t>V28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float64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Passthrough</a:t>
                      </a:r>
                      <a:r>
                        <a:rPr/>
                        <a:t> </a:t>
                      </a:r>
                      <a:r>
                        <a:rPr/>
                        <a:t>(already</a:t>
                      </a:r>
                      <a:r>
                        <a:rPr/>
                        <a:t> </a:t>
                      </a:r>
                      <a:r>
                        <a:rPr/>
                        <a:t>PCA-scaled</a:t>
                      </a:r>
                      <a:r>
                        <a:rPr/>
                        <a:t> </a:t>
                      </a:r>
                      <a:r>
                        <a:rPr/>
                        <a:t>by</a:t>
                      </a:r>
                      <a:r>
                        <a:rPr/>
                        <a:t> </a:t>
                      </a:r>
                      <a:r>
                        <a:rPr/>
                        <a:t>ULB)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Amount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float64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Scale</a:t>
                      </a:r>
                      <a:r>
                        <a:rPr/>
                        <a:t> </a:t>
                      </a:r>
                      <a:r>
                        <a:rPr/>
                        <a:t>+</a:t>
                      </a:r>
                      <a:r>
                        <a:rPr/>
                        <a:t> </a:t>
                      </a:r>
                      <a:r>
                        <a:rPr/>
                        <a:t>engineer</a:t>
                      </a:r>
                      <a:r>
                        <a:rPr/>
                        <a:t> </a:t>
                      </a:r>
                      <a:r>
                        <a:rPr/>
                        <a:t>to</a:t>
                      </a:r>
                      <a:r>
                        <a:rPr/>
                        <a:t> </a:t>
                      </a:r>
                      <a:r>
                        <a:rPr sz="1800">
                          <a:latin typeface="Courier"/>
                        </a:rPr>
                        <a:t>log_amount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Class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int64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Target</a:t>
                      </a:r>
                      <a:r>
                        <a:rPr/>
                        <a:t> </a:t>
                      </a:r>
                      <a:r>
                        <a:rPr/>
                        <a:t>variable</a:t>
                      </a:r>
                      <a:r>
                        <a:rPr/>
                        <a:t> </a:t>
                      </a:r>
                      <a:r>
                        <a:rPr/>
                        <a:t>(0=legit,</a:t>
                      </a:r>
                      <a:r>
                        <a:rPr/>
                        <a:t> </a:t>
                      </a:r>
                      <a:r>
                        <a:rPr/>
                        <a:t>1=fraud)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1270000" indent="0">
              <a:buNone/>
            </a:pPr>
            <a:r>
              <a:rPr sz="2000"/>
              <a:t>The V1–V28 features are PCA-transformed by ULB to anonymize cardholder data. Original feature names are confidential and cannot be recovered. This is a documented property of the dataset.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4.3 Dataset Quality Assessment (Verified)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Quality</a:t>
                      </a:r>
                      <a:r>
                        <a:rPr/>
                        <a:t> </a:t>
                      </a:r>
                      <a:r>
                        <a:rPr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Verified</a:t>
                      </a:r>
                      <a:r>
                        <a:rPr/>
                        <a:t> </a:t>
                      </a: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Total</a:t>
                      </a:r>
                      <a:r>
                        <a:rPr/>
                        <a:t> </a:t>
                      </a:r>
                      <a:r>
                        <a:rPr/>
                        <a:t>rows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284,807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Total</a:t>
                      </a:r>
                      <a:r>
                        <a:rPr/>
                        <a:t> </a:t>
                      </a:r>
                      <a:r>
                        <a:rPr/>
                        <a:t>columns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31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Missing</a:t>
                      </a:r>
                      <a:r>
                        <a:rPr/>
                        <a:t> </a:t>
                      </a:r>
                      <a:r>
                        <a:rPr/>
                        <a:t>values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0</a:t>
                      </a:r>
                      <a:r>
                        <a:rPr/>
                        <a:t> </a:t>
                      </a:r>
                      <a:r>
                        <a:rPr/>
                        <a:t>(zero</a:t>
                      </a:r>
                      <a:r>
                        <a:rPr/>
                        <a:t> </a:t>
                      </a:r>
                      <a:r>
                        <a:rPr/>
                        <a:t>missing</a:t>
                      </a:r>
                      <a:r>
                        <a:rPr/>
                        <a:t> </a:t>
                      </a:r>
                      <a:r>
                        <a:rPr/>
                        <a:t>values</a:t>
                      </a:r>
                      <a:r>
                        <a:rPr/>
                        <a:t> </a:t>
                      </a:r>
                      <a:r>
                        <a:rPr/>
                        <a:t>—</a:t>
                      </a:r>
                      <a:r>
                        <a:rPr/>
                        <a:t> </a:t>
                      </a:r>
                      <a:r>
                        <a:rPr/>
                        <a:t>no</a:t>
                      </a:r>
                      <a:r>
                        <a:rPr/>
                        <a:t> </a:t>
                      </a:r>
                      <a:r>
                        <a:rPr/>
                        <a:t>imputation</a:t>
                      </a:r>
                      <a:r>
                        <a:rPr/>
                        <a:t> </a:t>
                      </a:r>
                      <a:r>
                        <a:rPr/>
                        <a:t>required)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Duplicate</a:t>
                      </a:r>
                      <a:r>
                        <a:rPr/>
                        <a:t> </a:t>
                      </a:r>
                      <a:r>
                        <a:rPr/>
                        <a:t>rows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1,081</a:t>
                      </a:r>
                      <a:r>
                        <a:rPr/>
                        <a:t> </a:t>
                      </a:r>
                      <a:r>
                        <a:rPr/>
                        <a:t>(dropped</a:t>
                      </a:r>
                      <a:r>
                        <a:rPr/>
                        <a:t> </a:t>
                      </a:r>
                      <a:r>
                        <a:rPr/>
                        <a:t>during</a:t>
                      </a:r>
                      <a:r>
                        <a:rPr/>
                        <a:t> </a:t>
                      </a:r>
                      <a:r>
                        <a:rPr/>
                        <a:t>preprocessing)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All-null</a:t>
                      </a:r>
                      <a:r>
                        <a:rPr/>
                        <a:t> </a:t>
                      </a:r>
                      <a:r>
                        <a:rPr/>
                        <a:t>columns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None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Non-numeric</a:t>
                      </a:r>
                      <a:r>
                        <a:rPr/>
                        <a:t> </a:t>
                      </a:r>
                      <a:r>
                        <a:rPr/>
                        <a:t>columns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None</a:t>
                      </a:r>
                      <a:r>
                        <a:rPr/>
                        <a:t> </a:t>
                      </a:r>
                      <a:r>
                        <a:rPr/>
                        <a:t>(no</a:t>
                      </a:r>
                      <a:r>
                        <a:rPr/>
                        <a:t> </a:t>
                      </a:r>
                      <a:r>
                        <a:rPr/>
                        <a:t>encoding</a:t>
                      </a:r>
                      <a:r>
                        <a:rPr/>
                        <a:t> </a:t>
                      </a:r>
                      <a:r>
                        <a:rPr/>
                        <a:t>required)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Data</a:t>
                      </a:r>
                      <a:r>
                        <a:rPr/>
                        <a:t> </a:t>
                      </a:r>
                      <a:r>
                        <a:rPr/>
                        <a:t>type</a:t>
                      </a:r>
                      <a:r>
                        <a:rPr/>
                        <a:t> </a:t>
                      </a:r>
                      <a:r>
                        <a:rPr/>
                        <a:t>issues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None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Target</a:t>
                      </a:r>
                      <a:r>
                        <a:rPr/>
                        <a:t> </a:t>
                      </a:r>
                      <a:r>
                        <a:rPr/>
                        <a:t>value</a:t>
                      </a:r>
                      <a:r>
                        <a:rPr/>
                        <a:t> </a:t>
                      </a:r>
                      <a:r>
                        <a:rPr/>
                        <a:t>range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{0,</a:t>
                      </a:r>
                      <a:r>
                        <a:rPr b="1"/>
                        <a:t> </a:t>
                      </a:r>
                      <a:r>
                        <a:rPr b="1"/>
                        <a:t>1}</a:t>
                      </a:r>
                      <a:r>
                        <a:rPr/>
                        <a:t> </a:t>
                      </a:r>
                      <a:r>
                        <a:rPr/>
                        <a:t>—</a:t>
                      </a:r>
                      <a:r>
                        <a:rPr/>
                        <a:t> </a:t>
                      </a:r>
                      <a:r>
                        <a:rPr/>
                        <a:t>binary,</a:t>
                      </a:r>
                      <a:r>
                        <a:rPr/>
                        <a:t> </a:t>
                      </a:r>
                      <a:r>
                        <a:rPr/>
                        <a:t>as</a:t>
                      </a:r>
                      <a:r>
                        <a:rPr/>
                        <a:t> </a:t>
                      </a:r>
                      <a:r>
                        <a:rPr/>
                        <a:t>expected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4.4 Class Distribution (Verified)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Percentage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Legitimate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284,315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99.8273%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Fraud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492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0.1727%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Imbalance</a:t>
                      </a:r>
                      <a:r>
                        <a:rPr/>
                        <a:t> </a:t>
                      </a:r>
                      <a:r>
                        <a:rPr/>
                        <a:t>ratio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1</a:t>
                      </a:r>
                      <a:r>
                        <a:rPr b="1"/>
                        <a:t> </a:t>
                      </a:r>
                      <a:r>
                        <a:rPr b="1"/>
                        <a:t>:</a:t>
                      </a:r>
                      <a:r>
                        <a:rPr b="1"/>
                        <a:t> </a:t>
                      </a:r>
                      <a:r>
                        <a:rPr b="1"/>
                        <a:t>577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Impact:</a:t>
            </a:r>
            <a:r>
              <a:rPr/>
              <a:t> A naive model predicting “always legitimate” achieves 99.8% accuracy — making accuracy a completely misleading metric. The system therefore uses Precision, Recall, F1, F2, PR-AUC, and ROC-AUC as primary evaluation criteria.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4.5 Descriptive Statistics (Verified)</a:t>
            </a:r>
          </a:p>
          <a:p>
            <a:pPr lvl="0" marL="0" indent="0">
              <a:buNone/>
            </a:pPr>
            <a:r>
              <a:rPr b="1"/>
              <a:t>Amount column: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Statistic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Mean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€88.35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Median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€22.00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Std</a:t>
                      </a:r>
                      <a:r>
                        <a:rPr/>
                        <a:t> </a:t>
                      </a:r>
                      <a:r>
                        <a:rPr/>
                        <a:t>Dev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€250.12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Minimum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€0.00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Maximum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€25,691.16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Skewness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16.9777</a:t>
                      </a:r>
                      <a:r>
                        <a:rPr/>
                        <a:t> </a:t>
                      </a:r>
                      <a:r>
                        <a:rPr/>
                        <a:t>(extremely</a:t>
                      </a:r>
                      <a:r>
                        <a:rPr/>
                        <a:t> </a:t>
                      </a:r>
                      <a:r>
                        <a:rPr/>
                        <a:t>right-skewed)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Kurtosis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845.09</a:t>
                      </a:r>
                      <a:r>
                        <a:rPr/>
                        <a:t> </a:t>
                      </a:r>
                      <a:r>
                        <a:rPr/>
                        <a:t>(heavy-tailed)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Zero-amount</a:t>
                      </a:r>
                      <a:r>
                        <a:rPr/>
                        <a:t> </a:t>
                      </a:r>
                      <a:r>
                        <a:rPr/>
                        <a:t>transactions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1,825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Fraud</a:t>
                      </a:r>
                      <a:r>
                        <a:rPr/>
                        <a:t> </a:t>
                      </a:r>
                      <a:r>
                        <a:rPr/>
                        <a:t>mean</a:t>
                      </a:r>
                      <a:r>
                        <a:rPr/>
                        <a:t> </a:t>
                      </a:r>
                      <a:r>
                        <a:rPr/>
                        <a:t>Amount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€122.21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Legitimate</a:t>
                      </a:r>
                      <a:r>
                        <a:rPr/>
                        <a:t> </a:t>
                      </a:r>
                      <a:r>
                        <a:rPr/>
                        <a:t>mean</a:t>
                      </a:r>
                      <a:r>
                        <a:rPr/>
                        <a:t> </a:t>
                      </a:r>
                      <a:r>
                        <a:rPr/>
                        <a:t>Amount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€88.29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Time column: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Statistic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Range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0</a:t>
                      </a:r>
                      <a:r>
                        <a:rPr/>
                        <a:t> </a:t>
                      </a:r>
                      <a:r>
                        <a:rPr/>
                        <a:t>–</a:t>
                      </a:r>
                      <a:r>
                        <a:rPr/>
                        <a:t> </a:t>
                      </a:r>
                      <a:r>
                        <a:rPr/>
                        <a:t>172,792</a:t>
                      </a:r>
                      <a:r>
                        <a:rPr/>
                        <a:t> </a:t>
                      </a:r>
                      <a:r>
                        <a:rPr/>
                        <a:t>seconds</a:t>
                      </a:r>
                      <a:r>
                        <a:rPr/>
                        <a:t> </a:t>
                      </a:r>
                      <a:r>
                        <a:rPr/>
                        <a:t>(exactly</a:t>
                      </a:r>
                      <a:r>
                        <a:rPr/>
                        <a:t> </a:t>
                      </a:r>
                      <a:r>
                        <a:rPr/>
                        <a:t>48</a:t>
                      </a:r>
                      <a:r>
                        <a:rPr/>
                        <a:t> </a:t>
                      </a:r>
                      <a:r>
                        <a:rPr/>
                        <a:t>hours)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Mean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94,813</a:t>
                      </a:r>
                      <a:r>
                        <a:rPr/>
                        <a:t> </a:t>
                      </a:r>
                      <a:r>
                        <a:rPr/>
                        <a:t>seconds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Night</a:t>
                      </a:r>
                      <a:r>
                        <a:rPr/>
                        <a:t> </a:t>
                      </a:r>
                      <a:r>
                        <a:rPr/>
                        <a:t>transactions</a:t>
                      </a:r>
                      <a:r>
                        <a:rPr/>
                        <a:t> </a:t>
                      </a:r>
                      <a:r>
                        <a:rPr/>
                        <a:t>(0–6h)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23,934</a:t>
                      </a:r>
                      <a:r>
                        <a:rPr/>
                        <a:t> </a:t>
                      </a:r>
                      <a:r>
                        <a:rPr/>
                        <a:t>(8.40%</a:t>
                      </a:r>
                      <a:r>
                        <a:rPr/>
                        <a:t> </a:t>
                      </a:r>
                      <a:r>
                        <a:rPr/>
                        <a:t>of</a:t>
                      </a:r>
                      <a:r>
                        <a:rPr/>
                        <a:t> </a:t>
                      </a:r>
                      <a:r>
                        <a:rPr/>
                        <a:t>all</a:t>
                      </a:r>
                      <a:r>
                        <a:rPr/>
                        <a:t> </a:t>
                      </a:r>
                      <a:r>
                        <a:rPr/>
                        <a:t>transactions)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Fraud</a:t>
                      </a:r>
                      <a:r>
                        <a:rPr/>
                        <a:t> </a:t>
                      </a:r>
                      <a:r>
                        <a:rPr/>
                        <a:t>mean</a:t>
                      </a:r>
                      <a:r>
                        <a:rPr/>
                        <a:t> </a:t>
                      </a:r>
                      <a:r>
                        <a:rPr/>
                        <a:t>Time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80,747s</a:t>
                      </a:r>
                      <a:r>
                        <a:rPr/>
                        <a:t> </a:t>
                      </a:r>
                      <a:r>
                        <a:rPr/>
                        <a:t>(earlier</a:t>
                      </a:r>
                      <a:r>
                        <a:rPr/>
                        <a:t> </a:t>
                      </a:r>
                      <a:r>
                        <a:rPr/>
                        <a:t>in</a:t>
                      </a:r>
                      <a:r>
                        <a:rPr/>
                        <a:t> </a:t>
                      </a:r>
                      <a:r>
                        <a:rPr/>
                        <a:t>dataset)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Legitimate</a:t>
                      </a:r>
                      <a:r>
                        <a:rPr/>
                        <a:t> </a:t>
                      </a:r>
                      <a:r>
                        <a:rPr/>
                        <a:t>mean</a:t>
                      </a:r>
                      <a:r>
                        <a:rPr/>
                        <a:t> </a:t>
                      </a:r>
                      <a:r>
                        <a:rPr/>
                        <a:t>Time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94,838s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4.6 Top Features Correlated with Fraud (Verified)</a:t>
            </a:r>
          </a:p>
          <a:p>
            <a:pPr lvl="0" marL="0" indent="0">
              <a:buNone/>
            </a:pPr>
            <a:r>
              <a:rPr/>
              <a:t>Absolute Pearson correlation with </a:t>
            </a:r>
            <a:r>
              <a:rPr sz="1800">
                <a:latin typeface="Courier"/>
              </a:rPr>
              <a:t>Class</a:t>
            </a:r>
            <a:r>
              <a:rPr/>
              <a:t> target: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Correlation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Notes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0.3265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Strongest</a:t>
                      </a:r>
                      <a:r>
                        <a:rPr/>
                        <a:t> </a:t>
                      </a:r>
                      <a:r>
                        <a:rPr/>
                        <a:t>fraud</a:t>
                      </a:r>
                      <a:r>
                        <a:rPr/>
                        <a:t> </a:t>
                      </a:r>
                      <a:r>
                        <a:rPr/>
                        <a:t>signal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0.3025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Second</a:t>
                      </a:r>
                      <a:r>
                        <a:rPr/>
                        <a:t> </a:t>
                      </a:r>
                      <a:r>
                        <a:rPr/>
                        <a:t>strongest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0.2606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0.2169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0.1965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0.1930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0.1873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0.1549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0.1334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0.1115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Fraud vs Legitimate Mean Differences (top 5):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Fraud</a:t>
                      </a:r>
                      <a:r>
                        <a:rPr/>
                        <a:t> </a:t>
                      </a:r>
                      <a:r>
                        <a:rPr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Legitimate</a:t>
                      </a:r>
                      <a:r>
                        <a:rPr/>
                        <a:t> </a:t>
                      </a:r>
                      <a:r>
                        <a:rPr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Absolute</a:t>
                      </a:r>
                      <a:r>
                        <a:rPr/>
                        <a:t> </a:t>
                      </a:r>
                      <a:r>
                        <a:rPr/>
                        <a:t>Difference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-7.0333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0.0122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7.0455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-6.9717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0.0121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6.9838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-6.6658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0.0115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6.6774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-6.2594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0.0108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6.2702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-5.6769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0.0098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5.6867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These features are expected to appear prominently in SHAP explanations.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5.</a:t>
            </a:r>
            <a:r>
              <a:rPr/>
              <a:t> </a:t>
            </a:r>
            <a:r>
              <a:rPr/>
              <a:t>Phase</a:t>
            </a:r>
            <a:r>
              <a:rPr/>
              <a:t> </a:t>
            </a:r>
            <a:r>
              <a:rPr/>
              <a:t>1:</a:t>
            </a:r>
            <a:r>
              <a:rPr/>
              <a:t> </a:t>
            </a:r>
            <a:r>
              <a:rPr/>
              <a:t>Data</a:t>
            </a:r>
            <a:r>
              <a:rPr/>
              <a:t> </a:t>
            </a:r>
            <a:r>
              <a:rPr/>
              <a:t>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5.1 Modules Implemented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Lines</a:t>
                      </a:r>
                      <a:r>
                        <a:rPr/>
                        <a:t> </a:t>
                      </a:r>
                      <a:r>
                        <a:rPr/>
                        <a:t>of</a:t>
                      </a:r>
                      <a:r>
                        <a:rPr/>
                        <a:t> </a:t>
                      </a:r>
                      <a:r>
                        <a:rPr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Purpose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DataLoader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src/data/loader.py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~180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Load,</a:t>
                      </a:r>
                      <a:r>
                        <a:rPr/>
                        <a:t> </a:t>
                      </a:r>
                      <a:r>
                        <a:rPr/>
                        <a:t>validate</a:t>
                      </a:r>
                      <a:r>
                        <a:rPr/>
                        <a:t> </a:t>
                      </a:r>
                      <a:r>
                        <a:rPr/>
                        <a:t>schema,</a:t>
                      </a:r>
                      <a:r>
                        <a:rPr/>
                        <a:t> </a:t>
                      </a:r>
                      <a:r>
                        <a:rPr/>
                        <a:t>report</a:t>
                      </a:r>
                      <a:r>
                        <a:rPr/>
                        <a:t> </a:t>
                      </a:r>
                      <a:r>
                        <a:rPr/>
                        <a:t>statistics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DataValidator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src/data/validator.py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~230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Hard/soft</a:t>
                      </a:r>
                      <a:r>
                        <a:rPr/>
                        <a:t> </a:t>
                      </a:r>
                      <a:r>
                        <a:rPr/>
                        <a:t>validation,</a:t>
                      </a:r>
                      <a:r>
                        <a:rPr/>
                        <a:t> </a:t>
                      </a:r>
                      <a:r>
                        <a:rPr/>
                        <a:t>structured</a:t>
                      </a:r>
                      <a:r>
                        <a:rPr/>
                        <a:t> </a:t>
                      </a:r>
                      <a:r>
                        <a:rPr/>
                        <a:t>report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FeatureEngineer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src/features/engineering.py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~190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Derive</a:t>
                      </a:r>
                      <a:r>
                        <a:rPr/>
                        <a:t> </a:t>
                      </a:r>
                      <a:r>
                        <a:rPr/>
                        <a:t>features,</a:t>
                      </a:r>
                      <a:r>
                        <a:rPr/>
                        <a:t> </a:t>
                      </a:r>
                      <a:r>
                        <a:rPr/>
                        <a:t>separate</a:t>
                      </a:r>
                      <a:r>
                        <a:rPr/>
                        <a:t> </a:t>
                      </a:r>
                      <a:r>
                        <a:rPr/>
                        <a:t>X</a:t>
                      </a:r>
                      <a:r>
                        <a:rPr/>
                        <a:t> </a:t>
                      </a:r>
                      <a:r>
                        <a:rPr/>
                        <a:t>and</a:t>
                      </a:r>
                      <a:r>
                        <a:rPr/>
                        <a:t> </a:t>
                      </a:r>
                      <a:r>
                        <a:rPr/>
                        <a:t>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PreprocessingPipeline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src/features/pipeline.py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~320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Build,</a:t>
                      </a:r>
                      <a:r>
                        <a:rPr/>
                        <a:t> </a:t>
                      </a:r>
                      <a:r>
                        <a:rPr/>
                        <a:t>fit,</a:t>
                      </a:r>
                      <a:r>
                        <a:rPr/>
                        <a:t> </a:t>
                      </a:r>
                      <a:r>
                        <a:rPr/>
                        <a:t>transform,</a:t>
                      </a:r>
                      <a:r>
                        <a:rPr/>
                        <a:t> </a:t>
                      </a:r>
                      <a:r>
                        <a:rPr/>
                        <a:t>save/load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Serialization utils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src/utils/serialization.py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~120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Save/load</a:t>
                      </a:r>
                      <a:r>
                        <a:rPr/>
                        <a:t> </a:t>
                      </a:r>
                      <a:r>
                        <a:rPr/>
                        <a:t>models,</a:t>
                      </a:r>
                      <a:r>
                        <a:rPr/>
                        <a:t> </a:t>
                      </a:r>
                      <a:r>
                        <a:rPr/>
                        <a:t>metrics,</a:t>
                      </a:r>
                      <a:r>
                        <a:rPr/>
                        <a:t> </a:t>
                      </a:r>
                      <a:r>
                        <a:rPr/>
                        <a:t>reports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ConfigLoader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src/utils/config.py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~110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YAML</a:t>
                      </a:r>
                      <a:r>
                        <a:rPr/>
                        <a:t> </a:t>
                      </a:r>
                      <a:r>
                        <a:rPr/>
                        <a:t>config</a:t>
                      </a:r>
                      <a:r>
                        <a:rPr/>
                        <a:t> </a:t>
                      </a:r>
                      <a:r>
                        <a:rPr/>
                        <a:t>with</a:t>
                      </a:r>
                      <a:r>
                        <a:rPr/>
                        <a:t> </a:t>
                      </a:r>
                      <a:r>
                        <a:rPr/>
                        <a:t>typed</a:t>
                      </a:r>
                      <a:r>
                        <a:rPr/>
                        <a:t> </a:t>
                      </a:r>
                      <a:r>
                        <a:rPr/>
                        <a:t>accessors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Logger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src/utils/logger.py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~80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Rotating</a:t>
                      </a:r>
                      <a:r>
                        <a:rPr/>
                        <a:t> </a:t>
                      </a:r>
                      <a:r>
                        <a:rPr/>
                        <a:t>file</a:t>
                      </a:r>
                      <a:r>
                        <a:rPr/>
                        <a:t> </a:t>
                      </a:r>
                      <a:r>
                        <a:rPr/>
                        <a:t>logger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5.2 Data Validation Design</a:t>
            </a:r>
          </a:p>
          <a:p>
            <a:pPr lvl="0" marL="0" indent="0">
              <a:buNone/>
            </a:pPr>
            <a:r>
              <a:rPr/>
              <a:t>The </a:t>
            </a:r>
            <a:r>
              <a:rPr sz="1800">
                <a:latin typeface="Courier"/>
              </a:rPr>
              <a:t>DataValidator</a:t>
            </a:r>
            <a:r>
              <a:rPr/>
              <a:t> enforces a two-tier check system:</a:t>
            </a:r>
          </a:p>
          <a:p>
            <a:pPr lvl="0" marL="0" indent="0">
              <a:buNone/>
            </a:pPr>
            <a:r>
              <a:rPr b="1"/>
              <a:t>Hard Failures (raise </a:t>
            </a:r>
            <a:r>
              <a:rPr sz="1800" b="1">
                <a:latin typeface="Courier"/>
              </a:rPr>
              <a:t>DataValidationError</a:t>
            </a:r>
            <a:r>
              <a:rPr b="1"/>
              <a:t>):</a:t>
            </a:r>
            <a:r>
              <a:rPr/>
              <a:t> - Row count below 200,000 minimum - </a:t>
            </a:r>
            <a:r>
              <a:rPr sz="1800">
                <a:latin typeface="Courier"/>
              </a:rPr>
              <a:t>Class</a:t>
            </a:r>
            <a:r>
              <a:rPr/>
              <a:t> target column missing - Target column contains values outside {0, 1} - Any column is entirely null</a:t>
            </a:r>
          </a:p>
          <a:p>
            <a:pPr lvl="0" marL="0" indent="0">
              <a:buNone/>
            </a:pPr>
            <a:r>
              <a:rPr b="1"/>
              <a:t>Soft Warnings (logged, execution continues):</a:t>
            </a:r>
            <a:r>
              <a:rPr/>
              <a:t> - Missing values in any column - Duplicate rows detected - Non-numeric columns present - </a:t>
            </a:r>
            <a:r>
              <a:rPr sz="1800">
                <a:latin typeface="Courier"/>
              </a:rPr>
              <a:t>Amount</a:t>
            </a:r>
            <a:r>
              <a:rPr/>
              <a:t> or </a:t>
            </a:r>
            <a:r>
              <a:rPr sz="1800">
                <a:latin typeface="Courier"/>
              </a:rPr>
              <a:t>Time</a:t>
            </a:r>
            <a:r>
              <a:rPr/>
              <a:t> columns missing - Fraud rate outside expected range [0.1%, 0.5%]</a:t>
            </a:r>
          </a:p>
          <a:p>
            <a:pPr lvl="0" marL="0" indent="0">
              <a:buNone/>
            </a:pPr>
            <a:r>
              <a:rPr/>
              <a:t>Result on actual dataset: </a:t>
            </a:r>
            <a:r>
              <a:rPr b="1"/>
              <a:t>PASSED</a:t>
            </a:r>
            <a:r>
              <a:rPr/>
              <a:t> — 1 warning (1,081 duplicates to be dropped).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6.</a:t>
            </a:r>
            <a:r>
              <a:rPr/>
              <a:t> </a:t>
            </a:r>
            <a:r>
              <a:rPr/>
              <a:t>Feature</a:t>
            </a:r>
            <a:r>
              <a:rPr/>
              <a:t> </a:t>
            </a:r>
            <a:r>
              <a:rPr/>
              <a:t>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6.1 Derived Features</a:t>
            </a:r>
          </a:p>
          <a:p>
            <a:pPr lvl="0" marL="0" indent="0">
              <a:buNone/>
            </a:pPr>
            <a:r>
              <a:rPr/>
              <a:t>Three new features were created, each with a statistical rationale grounded in the actual dataset inspection: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sz="1800" b="1">
                <a:latin typeface="Courier"/>
              </a:rPr>
              <a:t>log_amount</a:t>
            </a:r>
            <a:r>
              <a:rPr b="1"/>
              <a:t> = log1p(Amount)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Rationale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Evidence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Amount</a:t>
                      </a:r>
                      <a:r>
                        <a:rPr/>
                        <a:t> </a:t>
                      </a:r>
                      <a:r>
                        <a:rPr/>
                        <a:t>is</a:t>
                      </a:r>
                      <a:r>
                        <a:rPr/>
                        <a:t> </a:t>
                      </a:r>
                      <a:r>
                        <a:rPr/>
                        <a:t>extremely</a:t>
                      </a:r>
                      <a:r>
                        <a:rPr/>
                        <a:t> </a:t>
                      </a:r>
                      <a:r>
                        <a:rPr/>
                        <a:t>right-skewed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Skewness</a:t>
                      </a:r>
                      <a:r>
                        <a:rPr/>
                        <a:t> </a:t>
                      </a:r>
                      <a:r>
                        <a:rPr/>
                        <a:t>=</a:t>
                      </a:r>
                      <a:r>
                        <a:rPr/>
                        <a:t> </a:t>
                      </a:r>
                      <a:r>
                        <a:rPr b="1"/>
                        <a:t>16.9777</a:t>
                      </a:r>
                      <a:r>
                        <a:rPr/>
                        <a:t>,</a:t>
                      </a:r>
                      <a:r>
                        <a:rPr/>
                        <a:t> </a:t>
                      </a:r>
                      <a:r>
                        <a:rPr/>
                        <a:t>Kurtosis</a:t>
                      </a:r>
                      <a:r>
                        <a:rPr/>
                        <a:t> </a:t>
                      </a:r>
                      <a:r>
                        <a:rPr/>
                        <a:t>=</a:t>
                      </a:r>
                      <a:r>
                        <a:rPr/>
                        <a:t> </a:t>
                      </a:r>
                      <a:r>
                        <a:rPr b="1"/>
                        <a:t>845.09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Standard</a:t>
                      </a:r>
                      <a:r>
                        <a:rPr/>
                        <a:t> </a:t>
                      </a:r>
                      <a:r>
                        <a:rPr/>
                        <a:t>scaling</a:t>
                      </a:r>
                      <a:r>
                        <a:rPr/>
                        <a:t> </a:t>
                      </a:r>
                      <a:r>
                        <a:rPr/>
                        <a:t>alone</a:t>
                      </a:r>
                      <a:r>
                        <a:rPr/>
                        <a:t> </a:t>
                      </a:r>
                      <a:r>
                        <a:rPr/>
                        <a:t>is</a:t>
                      </a:r>
                      <a:r>
                        <a:rPr/>
                        <a:t> </a:t>
                      </a:r>
                      <a:r>
                        <a:rPr/>
                        <a:t>insufficient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Max</a:t>
                      </a:r>
                      <a:r>
                        <a:rPr/>
                        <a:t> </a:t>
                      </a:r>
                      <a:r>
                        <a:rPr/>
                        <a:t>=</a:t>
                      </a:r>
                      <a:r>
                        <a:rPr/>
                        <a:t> </a:t>
                      </a:r>
                      <a:r>
                        <a:rPr/>
                        <a:t>€25,691</a:t>
                      </a:r>
                      <a:r>
                        <a:rPr/>
                        <a:t> </a:t>
                      </a:r>
                      <a:r>
                        <a:rPr/>
                        <a:t>vs</a:t>
                      </a:r>
                      <a:r>
                        <a:rPr/>
                        <a:t> </a:t>
                      </a:r>
                      <a:r>
                        <a:rPr/>
                        <a:t>Median</a:t>
                      </a:r>
                      <a:r>
                        <a:rPr/>
                        <a:t> </a:t>
                      </a:r>
                      <a:r>
                        <a:rPr/>
                        <a:t>=</a:t>
                      </a:r>
                      <a:r>
                        <a:rPr/>
                        <a:t> </a:t>
                      </a:r>
                      <a:r>
                        <a:rPr/>
                        <a:t>€22</a:t>
                      </a:r>
                      <a:r>
                        <a:rPr/>
                        <a:t> </a:t>
                      </a:r>
                      <a:r>
                        <a:rPr/>
                        <a:t>—</a:t>
                      </a:r>
                      <a:r>
                        <a:rPr/>
                        <a:t> </a:t>
                      </a:r>
                      <a:r>
                        <a:rPr/>
                        <a:t>3</a:t>
                      </a:r>
                      <a:r>
                        <a:rPr/>
                        <a:t> </a:t>
                      </a:r>
                      <a:r>
                        <a:rPr/>
                        <a:t>orders</a:t>
                      </a:r>
                      <a:r>
                        <a:rPr/>
                        <a:t> </a:t>
                      </a:r>
                      <a:r>
                        <a:rPr/>
                        <a:t>of</a:t>
                      </a:r>
                      <a:r>
                        <a:rPr/>
                        <a:t> </a:t>
                      </a:r>
                      <a:r>
                        <a:rPr/>
                        <a:t>magnitude</a:t>
                      </a:r>
                      <a:r>
                        <a:rPr/>
                        <a:t> </a:t>
                      </a:r>
                      <a:r>
                        <a:rPr/>
                        <a:t>difference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1,825</a:t>
                      </a:r>
                      <a:r>
                        <a:rPr/>
                        <a:t> </a:t>
                      </a:r>
                      <a:r>
                        <a:rPr/>
                        <a:t>zero-amount</a:t>
                      </a:r>
                      <a:r>
                        <a:rPr/>
                        <a:t> </a:t>
                      </a:r>
                      <a:r>
                        <a:rPr/>
                        <a:t>transactions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log1p(0) = 0</a:t>
                      </a:r>
                      <a:r>
                        <a:rPr/>
                        <a:t> </a:t>
                      </a:r>
                      <a:r>
                        <a:rPr/>
                        <a:t>—</a:t>
                      </a:r>
                      <a:r>
                        <a:rPr/>
                        <a:t> </a:t>
                      </a:r>
                      <a:r>
                        <a:rPr/>
                        <a:t>handles</a:t>
                      </a:r>
                      <a:r>
                        <a:rPr/>
                        <a:t> </a:t>
                      </a:r>
                      <a:r>
                        <a:rPr/>
                        <a:t>zero</a:t>
                      </a:r>
                      <a:r>
                        <a:rPr/>
                        <a:t> </a:t>
                      </a:r>
                      <a:r>
                        <a:rPr/>
                        <a:t>safely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After</a:t>
                      </a:r>
                      <a:r>
                        <a:rPr/>
                        <a:t> </a:t>
                      </a:r>
                      <a:r>
                        <a:rPr/>
                        <a:t>log</a:t>
                      </a:r>
                      <a:r>
                        <a:rPr/>
                        <a:t> </a:t>
                      </a:r>
                      <a:r>
                        <a:rPr/>
                        <a:t>transform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Skewness</a:t>
                      </a:r>
                      <a:r>
                        <a:rPr/>
                        <a:t> </a:t>
                      </a:r>
                      <a:r>
                        <a:rPr/>
                        <a:t>reduced</a:t>
                      </a:r>
                      <a:r>
                        <a:rPr/>
                        <a:t> </a:t>
                      </a:r>
                      <a:r>
                        <a:rPr/>
                        <a:t>substantially;</a:t>
                      </a:r>
                      <a:r>
                        <a:rPr/>
                        <a:t> </a:t>
                      </a:r>
                      <a:r>
                        <a:rPr/>
                        <a:t>more</a:t>
                      </a:r>
                      <a:r>
                        <a:rPr/>
                        <a:t> </a:t>
                      </a:r>
                      <a:r>
                        <a:rPr/>
                        <a:t>Gaussian-like</a:t>
                      </a:r>
                      <a:r>
                        <a:rPr/>
                        <a:t> </a:t>
                      </a:r>
                      <a:r>
                        <a:rPr/>
                        <a:t>distribution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sz="1800" b="1">
                <a:latin typeface="Courier"/>
              </a:rPr>
              <a:t>hour_of_day</a:t>
            </a:r>
            <a:r>
              <a:rPr b="1"/>
              <a:t> = (Time % 86400) / 3600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Rationale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Evidence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Dataset</a:t>
                      </a:r>
                      <a:r>
                        <a:rPr/>
                        <a:t> </a:t>
                      </a:r>
                      <a:r>
                        <a:rPr/>
                        <a:t>spans</a:t>
                      </a:r>
                      <a:r>
                        <a:rPr/>
                        <a:t> </a:t>
                      </a:r>
                      <a:r>
                        <a:rPr/>
                        <a:t>exactly</a:t>
                      </a:r>
                      <a:r>
                        <a:rPr/>
                        <a:t> </a:t>
                      </a:r>
                      <a:r>
                        <a:rPr/>
                        <a:t>48</a:t>
                      </a:r>
                      <a:r>
                        <a:rPr/>
                        <a:t> </a:t>
                      </a:r>
                      <a:r>
                        <a:rPr/>
                        <a:t>hours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Time</a:t>
                      </a:r>
                      <a:r>
                        <a:rPr/>
                        <a:t> </a:t>
                      </a:r>
                      <a:r>
                        <a:rPr/>
                        <a:t>range:</a:t>
                      </a:r>
                      <a:r>
                        <a:rPr/>
                        <a:t> </a:t>
                      </a:r>
                      <a:r>
                        <a:rPr/>
                        <a:t>0</a:t>
                      </a:r>
                      <a:r>
                        <a:rPr/>
                        <a:t> </a:t>
                      </a:r>
                      <a:r>
                        <a:rPr/>
                        <a:t>–</a:t>
                      </a:r>
                      <a:r>
                        <a:rPr/>
                        <a:t> </a:t>
                      </a:r>
                      <a:r>
                        <a:rPr/>
                        <a:t>172,792</a:t>
                      </a:r>
                      <a:r>
                        <a:rPr/>
                        <a:t> </a:t>
                      </a:r>
                      <a:r>
                        <a:rPr/>
                        <a:t>seconds</a:t>
                      </a:r>
                      <a:r>
                        <a:rPr/>
                        <a:t> </a:t>
                      </a:r>
                      <a:r>
                        <a:rPr/>
                        <a:t>verified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Time-of-day</a:t>
                      </a:r>
                      <a:r>
                        <a:rPr/>
                        <a:t> </a:t>
                      </a:r>
                      <a:r>
                        <a:rPr/>
                        <a:t>is</a:t>
                      </a:r>
                      <a:r>
                        <a:rPr/>
                        <a:t> </a:t>
                      </a:r>
                      <a:r>
                        <a:rPr/>
                        <a:t>a</a:t>
                      </a:r>
                      <a:r>
                        <a:rPr/>
                        <a:t> </a:t>
                      </a:r>
                      <a:r>
                        <a:rPr/>
                        <a:t>known</a:t>
                      </a:r>
                      <a:r>
                        <a:rPr/>
                        <a:t> </a:t>
                      </a:r>
                      <a:r>
                        <a:rPr/>
                        <a:t>fraud</a:t>
                      </a:r>
                      <a:r>
                        <a:rPr/>
                        <a:t> </a:t>
                      </a:r>
                      <a:r>
                        <a:rPr/>
                        <a:t>signal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Fraud</a:t>
                      </a:r>
                      <a:r>
                        <a:rPr/>
                        <a:t> </a:t>
                      </a:r>
                      <a:r>
                        <a:rPr/>
                        <a:t>mean</a:t>
                      </a:r>
                      <a:r>
                        <a:rPr/>
                        <a:t> </a:t>
                      </a:r>
                      <a:r>
                        <a:rPr/>
                        <a:t>Time=80,747s</a:t>
                      </a:r>
                      <a:r>
                        <a:rPr/>
                        <a:t> </a:t>
                      </a:r>
                      <a:r>
                        <a:rPr/>
                        <a:t>vs</a:t>
                      </a:r>
                      <a:r>
                        <a:rPr/>
                        <a:t> </a:t>
                      </a:r>
                      <a:r>
                        <a:rPr/>
                        <a:t>Legitimate=94,838s</a:t>
                      </a:r>
                      <a:r>
                        <a:rPr/>
                        <a:t> </a:t>
                      </a:r>
                      <a:r>
                        <a:rPr/>
                        <a:t>—</a:t>
                      </a:r>
                      <a:r>
                        <a:rPr/>
                        <a:t> </a:t>
                      </a:r>
                      <a:r>
                        <a:rPr/>
                        <a:t>different</a:t>
                      </a:r>
                      <a:r>
                        <a:rPr/>
                        <a:t> </a:t>
                      </a:r>
                      <a:r>
                        <a:rPr/>
                        <a:t>temporal</a:t>
                      </a:r>
                      <a:r>
                        <a:rPr/>
                        <a:t> </a:t>
                      </a:r>
                      <a:r>
                        <a:rPr/>
                        <a:t>pattern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Cyclical</a:t>
                      </a:r>
                      <a:r>
                        <a:rPr/>
                        <a:t> </a:t>
                      </a:r>
                      <a:r>
                        <a:rPr/>
                        <a:t>time</a:t>
                      </a:r>
                      <a:r>
                        <a:rPr/>
                        <a:t> </a:t>
                      </a:r>
                      <a:r>
                        <a:rPr/>
                        <a:t>extraction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Modulo</a:t>
                      </a:r>
                      <a:r>
                        <a:rPr/>
                        <a:t> </a:t>
                      </a:r>
                      <a:r>
                        <a:rPr/>
                        <a:t>86,400</a:t>
                      </a:r>
                      <a:r>
                        <a:rPr/>
                        <a:t> </a:t>
                      </a:r>
                      <a:r>
                        <a:rPr/>
                        <a:t>extracts</a:t>
                      </a:r>
                      <a:r>
                        <a:rPr/>
                        <a:t> </a:t>
                      </a:r>
                      <a:r>
                        <a:rPr/>
                        <a:t>position</a:t>
                      </a:r>
                      <a:r>
                        <a:rPr/>
                        <a:t> </a:t>
                      </a:r>
                      <a:r>
                        <a:rPr/>
                        <a:t>within</a:t>
                      </a:r>
                      <a:r>
                        <a:rPr/>
                        <a:t> </a:t>
                      </a:r>
                      <a:r>
                        <a:rPr/>
                        <a:t>a</a:t>
                      </a:r>
                      <a:r>
                        <a:rPr/>
                        <a:t> </a:t>
                      </a:r>
                      <a:r>
                        <a:rPr/>
                        <a:t>24-hour</a:t>
                      </a:r>
                      <a:r>
                        <a:rPr/>
                        <a:t> </a:t>
                      </a:r>
                      <a:r>
                        <a:rPr/>
                        <a:t>cycle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Range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0.0</a:t>
                      </a:r>
                      <a:r>
                        <a:rPr/>
                        <a:t> </a:t>
                      </a:r>
                      <a:r>
                        <a:rPr/>
                        <a:t>–</a:t>
                      </a:r>
                      <a:r>
                        <a:rPr/>
                        <a:t> </a:t>
                      </a:r>
                      <a:r>
                        <a:rPr/>
                        <a:t>23.99</a:t>
                      </a:r>
                      <a:r>
                        <a:rPr/>
                        <a:t> </a:t>
                      </a:r>
                      <a:r>
                        <a:rPr/>
                        <a:t>hours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sz="1800" b="1">
                <a:latin typeface="Courier"/>
              </a:rPr>
              <a:t>is_night</a:t>
            </a:r>
            <a:r>
              <a:rPr b="1"/>
              <a:t> = 1 if hour_of_day &lt; 6 else 0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Rationale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Evidence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Night</a:t>
                      </a:r>
                      <a:r>
                        <a:rPr/>
                        <a:t> </a:t>
                      </a:r>
                      <a:r>
                        <a:rPr/>
                        <a:t>is</a:t>
                      </a:r>
                      <a:r>
                        <a:rPr/>
                        <a:t> </a:t>
                      </a:r>
                      <a:r>
                        <a:rPr/>
                        <a:t>a</a:t>
                      </a:r>
                      <a:r>
                        <a:rPr/>
                        <a:t> </a:t>
                      </a:r>
                      <a:r>
                        <a:rPr/>
                        <a:t>low-supervision</a:t>
                      </a:r>
                      <a:r>
                        <a:rPr/>
                        <a:t> </a:t>
                      </a:r>
                      <a:r>
                        <a:rPr/>
                        <a:t>window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8.40%</a:t>
                      </a:r>
                      <a:r>
                        <a:rPr/>
                        <a:t> </a:t>
                      </a:r>
                      <a:r>
                        <a:rPr/>
                        <a:t>of</a:t>
                      </a:r>
                      <a:r>
                        <a:rPr/>
                        <a:t> </a:t>
                      </a:r>
                      <a:r>
                        <a:rPr/>
                        <a:t>all</a:t>
                      </a:r>
                      <a:r>
                        <a:rPr/>
                        <a:t> </a:t>
                      </a:r>
                      <a:r>
                        <a:rPr/>
                        <a:t>transactions</a:t>
                      </a:r>
                      <a:r>
                        <a:rPr/>
                        <a:t> </a:t>
                      </a:r>
                      <a:r>
                        <a:rPr/>
                        <a:t>occur</a:t>
                      </a:r>
                      <a:r>
                        <a:rPr/>
                        <a:t> </a:t>
                      </a:r>
                      <a:r>
                        <a:rPr/>
                        <a:t>between</a:t>
                      </a:r>
                      <a:r>
                        <a:rPr/>
                        <a:t> </a:t>
                      </a:r>
                      <a:r>
                        <a:rPr/>
                        <a:t>0h–6h</a:t>
                      </a:r>
                      <a:r>
                        <a:rPr/>
                        <a:t> </a:t>
                      </a:r>
                      <a:r>
                        <a:rPr/>
                        <a:t>(verified:</a:t>
                      </a:r>
                      <a:r>
                        <a:rPr/>
                        <a:t> </a:t>
                      </a:r>
                      <a:r>
                        <a:rPr/>
                        <a:t>23,934</a:t>
                      </a:r>
                      <a:r>
                        <a:rPr/>
                        <a:t> </a:t>
                      </a:r>
                      <a:r>
                        <a:rPr/>
                        <a:t>transactions)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Binary</a:t>
                      </a:r>
                      <a:r>
                        <a:rPr/>
                        <a:t> </a:t>
                      </a:r>
                      <a:r>
                        <a:rPr/>
                        <a:t>flag</a:t>
                      </a:r>
                      <a:r>
                        <a:rPr/>
                        <a:t> </a:t>
                      </a:r>
                      <a:r>
                        <a:rPr/>
                        <a:t>captures</a:t>
                      </a:r>
                      <a:r>
                        <a:rPr/>
                        <a:t> </a:t>
                      </a:r>
                      <a:r>
                        <a:rPr/>
                        <a:t>non-linear</a:t>
                      </a:r>
                      <a:r>
                        <a:rPr/>
                        <a:t> </a:t>
                      </a:r>
                      <a:r>
                        <a:rPr/>
                        <a:t>signal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Complements</a:t>
                      </a:r>
                      <a:r>
                        <a:rPr/>
                        <a:t> </a:t>
                      </a:r>
                      <a:r>
                        <a:rPr/>
                        <a:t>the</a:t>
                      </a:r>
                      <a:r>
                        <a:rPr/>
                        <a:t> </a:t>
                      </a:r>
                      <a:r>
                        <a:rPr/>
                        <a:t>continuous</a:t>
                      </a:r>
                      <a:r>
                        <a:rPr/>
                        <a:t> </a:t>
                      </a:r>
                      <a:r>
                        <a:rPr sz="1800">
                          <a:latin typeface="Courier"/>
                        </a:rPr>
                        <a:t>hour_of_day</a:t>
                      </a:r>
                      <a:r>
                        <a:rPr/>
                        <a:t> </a:t>
                      </a:r>
                      <a:r>
                        <a:rPr/>
                        <a:t>feature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Zero-cost</a:t>
                      </a:r>
                      <a:r>
                        <a:rPr/>
                        <a:t> </a:t>
                      </a:r>
                      <a:r>
                        <a:rPr/>
                        <a:t>to</a:t>
                      </a:r>
                      <a:r>
                        <a:rPr/>
                        <a:t> </a:t>
                      </a:r>
                      <a:r>
                        <a:rPr/>
                        <a:t>add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Binary,</a:t>
                      </a:r>
                      <a:r>
                        <a:rPr/>
                        <a:t> </a:t>
                      </a:r>
                      <a:r>
                        <a:rPr/>
                        <a:t>no</a:t>
                      </a:r>
                      <a:r>
                        <a:rPr/>
                        <a:t> </a:t>
                      </a:r>
                      <a:r>
                        <a:rPr/>
                        <a:t>additional</a:t>
                      </a:r>
                      <a:r>
                        <a:rPr/>
                        <a:t> </a:t>
                      </a:r>
                      <a:r>
                        <a:rPr/>
                        <a:t>scaling</a:t>
                      </a:r>
                      <a:r>
                        <a:rPr/>
                        <a:t> </a:t>
                      </a:r>
                      <a:r>
                        <a:rPr/>
                        <a:t>needed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6.2 Column Treatment Summary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Treatment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Scaled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Amount,</a:t>
                      </a:r>
                      <a:r>
                        <a:rPr/>
                        <a:t> </a:t>
                      </a:r>
                      <a:r>
                        <a:rPr/>
                        <a:t>Time,</a:t>
                      </a:r>
                      <a:r>
                        <a:rPr/>
                        <a:t> </a:t>
                      </a:r>
                      <a:r>
                        <a:rPr/>
                        <a:t>log_amount,</a:t>
                      </a:r>
                      <a:r>
                        <a:rPr/>
                        <a:t> </a:t>
                      </a:r>
                      <a:r>
                        <a:rPr/>
                        <a:t>hour_of_day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StandardScaler</a:t>
                      </a:r>
                      <a:r>
                        <a:rPr/>
                        <a:t> </a:t>
                      </a:r>
                      <a:r>
                        <a:rPr/>
                        <a:t>(fit</a:t>
                      </a:r>
                      <a:r>
                        <a:rPr/>
                        <a:t> </a:t>
                      </a:r>
                      <a:r>
                        <a:rPr/>
                        <a:t>on</a:t>
                      </a:r>
                      <a:r>
                        <a:rPr/>
                        <a:t> </a:t>
                      </a:r>
                      <a:r>
                        <a:rPr/>
                        <a:t>train</a:t>
                      </a:r>
                      <a:r>
                        <a:rPr/>
                        <a:t> </a:t>
                      </a:r>
                      <a:r>
                        <a:rPr/>
                        <a:t>only)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Passthrough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V1</a:t>
                      </a:r>
                      <a:r>
                        <a:rPr/>
                        <a:t> </a:t>
                      </a:r>
                      <a:r>
                        <a:rPr/>
                        <a:t>–</a:t>
                      </a:r>
                      <a:r>
                        <a:rPr/>
                        <a:t> </a:t>
                      </a:r>
                      <a:r>
                        <a:rPr/>
                        <a:t>V28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No</a:t>
                      </a:r>
                      <a:r>
                        <a:rPr/>
                        <a:t> </a:t>
                      </a:r>
                      <a:r>
                        <a:rPr/>
                        <a:t>scaling</a:t>
                      </a:r>
                      <a:r>
                        <a:rPr/>
                        <a:t> </a:t>
                      </a:r>
                      <a:r>
                        <a:rPr/>
                        <a:t>(already</a:t>
                      </a:r>
                      <a:r>
                        <a:rPr/>
                        <a:t> </a:t>
                      </a:r>
                      <a:r>
                        <a:rPr/>
                        <a:t>PCA-scaled</a:t>
                      </a:r>
                      <a:r>
                        <a:rPr/>
                        <a:t> </a:t>
                      </a:r>
                      <a:r>
                        <a:rPr/>
                        <a:t>by</a:t>
                      </a:r>
                      <a:r>
                        <a:rPr/>
                        <a:t> </a:t>
                      </a:r>
                      <a:r>
                        <a:rPr/>
                        <a:t>ULB)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Passthrough</a:t>
                      </a:r>
                      <a:r>
                        <a:rPr/>
                        <a:t> </a:t>
                      </a:r>
                      <a:r>
                        <a:rPr/>
                        <a:t>binary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is_night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No</a:t>
                      </a:r>
                      <a:r>
                        <a:rPr/>
                        <a:t> </a:t>
                      </a:r>
                      <a:r>
                        <a:rPr/>
                        <a:t>scaling</a:t>
                      </a:r>
                      <a:r>
                        <a:rPr/>
                        <a:t> </a:t>
                      </a:r>
                      <a:r>
                        <a:rPr/>
                        <a:t>(values</a:t>
                      </a:r>
                      <a:r>
                        <a:rPr/>
                        <a:t> </a:t>
                      </a:r>
                      <a:r>
                        <a:rPr/>
                        <a:t>are</a:t>
                      </a:r>
                      <a:r>
                        <a:rPr/>
                        <a:t> </a:t>
                      </a:r>
                      <a:r>
                        <a:rPr/>
                        <a:t>0</a:t>
                      </a:r>
                      <a:r>
                        <a:rPr/>
                        <a:t> </a:t>
                      </a:r>
                      <a:r>
                        <a:rPr/>
                        <a:t>or</a:t>
                      </a:r>
                      <a:r>
                        <a:rPr/>
                        <a:t> </a:t>
                      </a:r>
                      <a:r>
                        <a:rPr/>
                        <a:t>1)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Dropped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Class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Target</a:t>
                      </a:r>
                      <a:r>
                        <a:rPr/>
                        <a:t> </a:t>
                      </a:r>
                      <a:r>
                        <a:rPr/>
                        <a:t>—</a:t>
                      </a:r>
                      <a:r>
                        <a:rPr/>
                        <a:t> </a:t>
                      </a:r>
                      <a:r>
                        <a:rPr/>
                        <a:t>separated</a:t>
                      </a:r>
                      <a:r>
                        <a:rPr/>
                        <a:t> </a:t>
                      </a:r>
                      <a:r>
                        <a:rPr/>
                        <a:t>before</a:t>
                      </a:r>
                      <a:r>
                        <a:rPr/>
                        <a:t> </a:t>
                      </a:r>
                      <a:r>
                        <a:rPr/>
                        <a:t>transform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Total</a:t>
                      </a:r>
                      <a:r>
                        <a:rPr b="1"/>
                        <a:t> </a:t>
                      </a:r>
                      <a:r>
                        <a:rPr b="1"/>
                        <a:t>features</a:t>
                      </a:r>
                      <a:r>
                        <a:rPr b="1"/>
                        <a:t> </a:t>
                      </a:r>
                      <a:r>
                        <a:rPr b="1"/>
                        <a:t>out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7.</a:t>
            </a:r>
            <a:r>
              <a:rPr/>
              <a:t> </a:t>
            </a:r>
            <a:r>
              <a:rPr/>
              <a:t>Preprocessing</a:t>
            </a:r>
            <a:r>
              <a:rPr/>
              <a:t> </a:t>
            </a:r>
            <a:r>
              <a:rPr/>
              <a:t>Pipeline</a:t>
            </a:r>
            <a:r>
              <a:rPr/>
              <a:t> </a:t>
            </a:r>
            <a:r>
              <a:rPr/>
              <a:t>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7.1 Architecture</a:t>
            </a:r>
          </a:p>
          <a:p>
            <a:pPr lvl="0" marL="0" indent="0">
              <a:buNone/>
            </a:pPr>
            <a:r>
              <a:rPr/>
              <a:t>The pipeline uses scikit-learn’s </a:t>
            </a:r>
            <a:r>
              <a:rPr sz="1800">
                <a:latin typeface="Courier"/>
              </a:rPr>
              <a:t>Pipeline</a:t>
            </a:r>
            <a:r>
              <a:rPr/>
              <a:t> + </a:t>
            </a:r>
            <a:r>
              <a:rPr sz="1800">
                <a:latin typeface="Courier"/>
              </a:rPr>
              <a:t>ColumnTransformer</a:t>
            </a:r>
            <a:r>
              <a:rPr/>
              <a:t>:</a:t>
            </a:r>
          </a:p>
          <a:p>
            <a:pPr lvl="0" marL="1270000" indent="0">
              <a:buNone/>
            </a:pPr>
            <a:r>
              <a:rPr sz="1800">
                <a:latin typeface="Courier"/>
              </a:rPr>
              <a:t>sklearn.pipeline.Pipeline
    └── preprocessor: ColumnTransformer
            ├── scaler: StandardScaler → [Amount, Time, log_amount, hour_of_day]
            └── passthrough              → [V1–V28, is_night]
            └── remainder: "drop"        → (no unassigned columns)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7.2 Splitting Strategy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Rationale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Test</a:t>
                      </a:r>
                      <a:r>
                        <a:rPr/>
                        <a:t> </a:t>
                      </a:r>
                      <a:r>
                        <a:rPr/>
                        <a:t>holdout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Final</a:t>
                      </a:r>
                      <a:r>
                        <a:rPr/>
                        <a:t> </a:t>
                      </a:r>
                      <a:r>
                        <a:rPr/>
                        <a:t>evaluation</a:t>
                      </a:r>
                      <a:r>
                        <a:rPr/>
                        <a:t> </a:t>
                      </a:r>
                      <a:r>
                        <a:rPr/>
                        <a:t>set</a:t>
                      </a:r>
                      <a:r>
                        <a:rPr/>
                        <a:t> </a:t>
                      </a:r>
                      <a:r>
                        <a:rPr/>
                        <a:t>—</a:t>
                      </a:r>
                      <a:r>
                        <a:rPr/>
                        <a:t> </a:t>
                      </a:r>
                      <a:r>
                        <a:rPr/>
                        <a:t>never</a:t>
                      </a:r>
                      <a:r>
                        <a:rPr/>
                        <a:t> </a:t>
                      </a:r>
                      <a:r>
                        <a:rPr/>
                        <a:t>seen</a:t>
                      </a:r>
                      <a:r>
                        <a:rPr/>
                        <a:t> </a:t>
                      </a:r>
                      <a:r>
                        <a:rPr/>
                        <a:t>during</a:t>
                      </a:r>
                      <a:r>
                        <a:rPr/>
                        <a:t> </a:t>
                      </a:r>
                      <a:r>
                        <a:rPr/>
                        <a:t>training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Validation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Hyperparameter</a:t>
                      </a:r>
                      <a:r>
                        <a:rPr/>
                        <a:t> </a:t>
                      </a:r>
                      <a:r>
                        <a:rPr/>
                        <a:t>tuning</a:t>
                      </a:r>
                      <a:r>
                        <a:rPr/>
                        <a:t> </a:t>
                      </a:r>
                      <a:r>
                        <a:rPr/>
                        <a:t>and</a:t>
                      </a:r>
                      <a:r>
                        <a:rPr/>
                        <a:t> </a:t>
                      </a:r>
                      <a:r>
                        <a:rPr/>
                        <a:t>threshold</a:t>
                      </a:r>
                      <a:r>
                        <a:rPr/>
                        <a:t> </a:t>
                      </a:r>
                      <a:r>
                        <a:rPr/>
                        <a:t>optimization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Training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60%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Model</a:t>
                      </a:r>
                      <a:r>
                        <a:rPr/>
                        <a:t> </a:t>
                      </a:r>
                      <a:r>
                        <a:rPr/>
                        <a:t>training</a:t>
                      </a:r>
                      <a:r>
                        <a:rPr/>
                        <a:t> </a:t>
                      </a:r>
                      <a:r>
                        <a:rPr/>
                        <a:t>and</a:t>
                      </a:r>
                      <a:r>
                        <a:rPr/>
                        <a:t> </a:t>
                      </a:r>
                      <a:r>
                        <a:rPr/>
                        <a:t>scaler</a:t>
                      </a:r>
                      <a:r>
                        <a:rPr/>
                        <a:t> </a:t>
                      </a:r>
                      <a:r>
                        <a:rPr/>
                        <a:t>fitting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Stratified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Preserves</a:t>
                      </a:r>
                      <a:r>
                        <a:rPr/>
                        <a:t> </a:t>
                      </a:r>
                      <a:r>
                        <a:rPr/>
                        <a:t>fraud</a:t>
                      </a:r>
                      <a:r>
                        <a:rPr/>
                        <a:t> </a:t>
                      </a:r>
                      <a:r>
                        <a:rPr/>
                        <a:t>rate</a:t>
                      </a:r>
                      <a:r>
                        <a:rPr/>
                        <a:t> </a:t>
                      </a:r>
                      <a:r>
                        <a:rPr/>
                        <a:t>across</a:t>
                      </a:r>
                      <a:r>
                        <a:rPr/>
                        <a:t> </a:t>
                      </a:r>
                      <a:r>
                        <a:rPr/>
                        <a:t>all</a:t>
                      </a:r>
                      <a:r>
                        <a:rPr/>
                        <a:t> </a:t>
                      </a:r>
                      <a:r>
                        <a:rPr/>
                        <a:t>three</a:t>
                      </a:r>
                      <a:r>
                        <a:rPr/>
                        <a:t> </a:t>
                      </a:r>
                      <a:r>
                        <a:rPr/>
                        <a:t>splits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Random</a:t>
                      </a:r>
                      <a:r>
                        <a:rPr/>
                        <a:t> </a:t>
                      </a:r>
                      <a:r>
                        <a:rPr/>
                        <a:t>seed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Fixed</a:t>
                      </a:r>
                      <a:r>
                        <a:rPr/>
                        <a:t> </a:t>
                      </a:r>
                      <a:r>
                        <a:rPr/>
                        <a:t>for</a:t>
                      </a:r>
                      <a:r>
                        <a:rPr/>
                        <a:t> </a:t>
                      </a:r>
                      <a:r>
                        <a:rPr/>
                        <a:t>full</a:t>
                      </a:r>
                      <a:r>
                        <a:rPr/>
                        <a:t> </a:t>
                      </a:r>
                      <a:r>
                        <a:rPr/>
                        <a:t>reproducibility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7.3 Split Results on Real Dataset (Verified)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Split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Fraud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Legitimate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Fraud</a:t>
                      </a:r>
                      <a:r>
                        <a:rPr/>
                        <a:t> </a:t>
                      </a:r>
                      <a:r>
                        <a:rPr/>
                        <a:t>Rate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Train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170,235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284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169,951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0.167%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Validation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56,745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94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56,651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0.166%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Test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56,746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56,651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0.167%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Total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283,726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473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283,253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0.167%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Stratification preserved: all three splits maintain ≈0.167% fraud rate (vs 0.1727% raw — slight reduction due to dropping 1,081 duplicates, 19 of which were fraud rows).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7.4 Fitted Scaler Statistics (Verified — From Training Data Only)</a:t>
            </a:r>
          </a:p>
          <a:p>
            <a:pPr lvl="0" marL="0" indent="0">
              <a:buNone/>
            </a:pPr>
            <a:r>
              <a:rPr/>
              <a:t>These values come exclusively from the 170,235 training rows. Validation and test sets are transformed using these learned parameters — not their own statistics.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Training</a:t>
                      </a:r>
                      <a:r>
                        <a:rPr/>
                        <a:t> </a:t>
                      </a:r>
                      <a:r>
                        <a:rPr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Training</a:t>
                      </a:r>
                      <a:r>
                        <a:rPr/>
                        <a:t> </a:t>
                      </a:r>
                      <a:r>
                        <a:rPr/>
                        <a:t>Std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Amount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88.1606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246.4492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94,935.857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47,513.337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log_amount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3.1545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1.6556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hour_of_day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14.5393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5.8411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7.5 Artifact Serialization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Artifact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Format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Preprocessing</a:t>
                      </a:r>
                      <a:r>
                        <a:rPr/>
                        <a:t> </a:t>
                      </a:r>
                      <a:r>
                        <a:rPr/>
                        <a:t>pipeline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artifacts/pipelines/preprocessing_pipeline.joblib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2,896</a:t>
                      </a:r>
                      <a:r>
                        <a:rPr/>
                        <a:t> </a:t>
                      </a:r>
                      <a:r>
                        <a:rPr/>
                        <a:t>bytes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joblib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Pipeline</a:t>
                      </a:r>
                      <a:r>
                        <a:rPr/>
                        <a:t> </a:t>
                      </a:r>
                      <a:r>
                        <a:rPr/>
                        <a:t>metadata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artifacts/pipelines/preprocessing_metadata.json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~3</a:t>
                      </a:r>
                      <a:r>
                        <a:rPr/>
                        <a:t> </a:t>
                      </a:r>
                      <a:r>
                        <a:rPr/>
                        <a:t>KB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JSON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Training</a:t>
                      </a:r>
                      <a:r>
                        <a:rPr/>
                        <a:t> </a:t>
                      </a:r>
                      <a:r>
                        <a:rPr/>
                        <a:t>split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data/processed/train.parquet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Parquet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Validation</a:t>
                      </a:r>
                      <a:r>
                        <a:rPr/>
                        <a:t> </a:t>
                      </a:r>
                      <a:r>
                        <a:rPr/>
                        <a:t>split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data/processed/validation.parquet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Parquet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Test</a:t>
                      </a:r>
                      <a:r>
                        <a:rPr/>
                        <a:t> </a:t>
                      </a:r>
                      <a:r>
                        <a:rPr/>
                        <a:t>split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data/processed/test.parquet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Parquet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8.</a:t>
            </a:r>
            <a:r>
              <a:rPr/>
              <a:t> </a:t>
            </a:r>
            <a:r>
              <a:rPr/>
              <a:t>Anti-Leakage</a:t>
            </a:r>
            <a:r>
              <a:rPr/>
              <a:t> </a:t>
            </a:r>
            <a:r>
              <a:rPr/>
              <a:t>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Data leakage prevention is critical for producing honest evaluation results. The following guarantees have been implemented and verified: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Leakage</a:t>
                      </a:r>
                      <a:r>
                        <a:rPr/>
                        <a:t> </a:t>
                      </a:r>
                      <a:r>
                        <a:rPr/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Prevention</a:t>
                      </a:r>
                      <a:r>
                        <a:rPr/>
                        <a:t> </a:t>
                      </a:r>
                      <a:r>
                        <a:rPr/>
                        <a:t>Mechanism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Verification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Scaler</a:t>
                      </a:r>
                      <a:r>
                        <a:rPr/>
                        <a:t> </a:t>
                      </a:r>
                      <a:r>
                        <a:rPr/>
                        <a:t>learns</a:t>
                      </a:r>
                      <a:r>
                        <a:rPr/>
                        <a:t> </a:t>
                      </a:r>
                      <a:r>
                        <a:rPr/>
                        <a:t>from</a:t>
                      </a:r>
                      <a:r>
                        <a:rPr/>
                        <a:t> </a:t>
                      </a:r>
                      <a:r>
                        <a:rPr/>
                        <a:t>test</a:t>
                      </a:r>
                      <a:r>
                        <a:rPr/>
                        <a:t> </a:t>
                      </a:r>
                      <a:r>
                        <a:rPr/>
                        <a:t>data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Pipeline.fit()</a:t>
                      </a:r>
                      <a:r>
                        <a:rPr/>
                        <a:t> </a:t>
                      </a:r>
                      <a:r>
                        <a:rPr/>
                        <a:t>called</a:t>
                      </a:r>
                      <a:r>
                        <a:rPr/>
                        <a:t> </a:t>
                      </a:r>
                      <a:r>
                        <a:rPr/>
                        <a:t>only</a:t>
                      </a:r>
                      <a:r>
                        <a:rPr/>
                        <a:t> </a:t>
                      </a:r>
                      <a:r>
                        <a:rPr/>
                        <a:t>on</a:t>
                      </a:r>
                      <a:r>
                        <a:rPr/>
                        <a:t> </a:t>
                      </a:r>
                      <a:r>
                        <a:rPr sz="1800">
                          <a:latin typeface="Courier"/>
                        </a:rPr>
                        <a:t>X_train</a:t>
                      </a:r>
                      <a:r>
                        <a:rPr/>
                        <a:t> </a:t>
                      </a:r>
                      <a:r>
                        <a:rPr/>
                        <a:t>(170,235</a:t>
                      </a:r>
                      <a:r>
                        <a:rPr/>
                        <a:t> </a:t>
                      </a:r>
                      <a:r>
                        <a:rPr/>
                        <a:t>rows)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Scaler</a:t>
                      </a:r>
                      <a:r>
                        <a:rPr/>
                        <a:t> </a:t>
                      </a:r>
                      <a:r>
                        <a:rPr/>
                        <a:t>stats</a:t>
                      </a:r>
                      <a:r>
                        <a:rPr/>
                        <a:t> </a:t>
                      </a:r>
                      <a:r>
                        <a:rPr/>
                        <a:t>extracted</a:t>
                      </a:r>
                      <a:r>
                        <a:rPr/>
                        <a:t> </a:t>
                      </a:r>
                      <a:r>
                        <a:rPr/>
                        <a:t>from</a:t>
                      </a:r>
                      <a:r>
                        <a:rPr/>
                        <a:t> </a:t>
                      </a:r>
                      <a:r>
                        <a:rPr/>
                        <a:t>training</a:t>
                      </a:r>
                      <a:r>
                        <a:rPr/>
                        <a:t> </a:t>
                      </a:r>
                      <a:r>
                        <a:rPr/>
                        <a:t>fit</a:t>
                      </a:r>
                      <a:r>
                        <a:rPr/>
                        <a:t> </a:t>
                      </a:r>
                      <a:r>
                        <a:rPr/>
                        <a:t>only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SMOTE</a:t>
                      </a:r>
                      <a:r>
                        <a:rPr/>
                        <a:t> </a:t>
                      </a:r>
                      <a:r>
                        <a:rPr/>
                        <a:t>applied</a:t>
                      </a:r>
                      <a:r>
                        <a:rPr/>
                        <a:t> </a:t>
                      </a:r>
                      <a:r>
                        <a:rPr/>
                        <a:t>before</a:t>
                      </a:r>
                      <a:r>
                        <a:rPr/>
                        <a:t> </a:t>
                      </a:r>
                      <a:r>
                        <a:rPr/>
                        <a:t>split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SMOTE</a:t>
                      </a:r>
                      <a:r>
                        <a:rPr/>
                        <a:t> </a:t>
                      </a:r>
                      <a:r>
                        <a:rPr/>
                        <a:t>is</a:t>
                      </a:r>
                      <a:r>
                        <a:rPr/>
                        <a:t> </a:t>
                      </a:r>
                      <a:r>
                        <a:rPr/>
                        <a:t>disabled</a:t>
                      </a:r>
                      <a:r>
                        <a:rPr/>
                        <a:t> </a:t>
                      </a:r>
                      <a:r>
                        <a:rPr/>
                        <a:t>by</a:t>
                      </a:r>
                      <a:r>
                        <a:rPr/>
                        <a:t> </a:t>
                      </a:r>
                      <a:r>
                        <a:rPr/>
                        <a:t>default;</a:t>
                      </a:r>
                      <a:r>
                        <a:rPr/>
                        <a:t> </a:t>
                      </a:r>
                      <a:r>
                        <a:rPr/>
                        <a:t>if</a:t>
                      </a:r>
                      <a:r>
                        <a:rPr/>
                        <a:t> </a:t>
                      </a:r>
                      <a:r>
                        <a:rPr/>
                        <a:t>enabled,</a:t>
                      </a:r>
                      <a:r>
                        <a:rPr/>
                        <a:t> </a:t>
                      </a:r>
                      <a:r>
                        <a:rPr/>
                        <a:t>applied</a:t>
                      </a:r>
                      <a:r>
                        <a:rPr/>
                        <a:t> </a:t>
                      </a:r>
                      <a:r>
                        <a:rPr/>
                        <a:t>after</a:t>
                      </a:r>
                      <a:r>
                        <a:rPr/>
                        <a:t> </a:t>
                      </a:r>
                      <a:r>
                        <a:rPr/>
                        <a:t>split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Config</a:t>
                      </a:r>
                      <a:r>
                        <a:rPr/>
                        <a:t> </a:t>
                      </a:r>
                      <a:r>
                        <a:rPr/>
                        <a:t>flag</a:t>
                      </a:r>
                      <a:r>
                        <a:rPr/>
                        <a:t> </a:t>
                      </a:r>
                      <a:r>
                        <a:rPr sz="1800">
                          <a:latin typeface="Courier"/>
                        </a:rPr>
                        <a:t>imbalance.use_smote: false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Train/test</a:t>
                      </a:r>
                      <a:r>
                        <a:rPr/>
                        <a:t> </a:t>
                      </a:r>
                      <a:r>
                        <a:rPr/>
                        <a:t>index</a:t>
                      </a:r>
                      <a:r>
                        <a:rPr/>
                        <a:t> </a:t>
                      </a:r>
                      <a:r>
                        <a:rPr/>
                        <a:t>overlap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Explicit</a:t>
                      </a:r>
                      <a:r>
                        <a:rPr/>
                        <a:t> </a:t>
                      </a:r>
                      <a:r>
                        <a:rPr/>
                        <a:t>index</a:t>
                      </a:r>
                      <a:r>
                        <a:rPr/>
                        <a:t> </a:t>
                      </a:r>
                      <a:r>
                        <a:rPr/>
                        <a:t>overlap</a:t>
                      </a:r>
                      <a:r>
                        <a:rPr/>
                        <a:t> </a:t>
                      </a:r>
                      <a:r>
                        <a:rPr/>
                        <a:t>check</a:t>
                      </a:r>
                      <a:r>
                        <a:rPr/>
                        <a:t> </a:t>
                      </a:r>
                      <a:r>
                        <a:rPr/>
                        <a:t>after</a:t>
                      </a:r>
                      <a:r>
                        <a:rPr/>
                        <a:t> </a:t>
                      </a:r>
                      <a:r>
                        <a:rPr/>
                        <a:t>split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Runtime</a:t>
                      </a:r>
                      <a:r>
                        <a:rPr/>
                        <a:t> </a:t>
                      </a:r>
                      <a:r>
                        <a:rPr/>
                        <a:t>log</a:t>
                      </a:r>
                      <a:r>
                        <a:rPr/>
                        <a:t> </a:t>
                      </a:r>
                      <a:r>
                        <a:rPr/>
                        <a:t>confirms:</a:t>
                      </a:r>
                      <a:r>
                        <a:rPr/>
                        <a:t> </a:t>
                      </a:r>
                      <a:r>
                        <a:rPr/>
                        <a:t>“</a:t>
                      </a:r>
                      <a:r>
                        <a:rPr/>
                        <a:t>zero</a:t>
                      </a:r>
                      <a:r>
                        <a:rPr/>
                        <a:t> </a:t>
                      </a:r>
                      <a:r>
                        <a:rPr/>
                        <a:t>index</a:t>
                      </a:r>
                      <a:r>
                        <a:rPr/>
                        <a:t> </a:t>
                      </a:r>
                      <a:r>
                        <a:rPr/>
                        <a:t>overlap</a:t>
                      </a:r>
                      <a:r>
                        <a:rPr/>
                        <a:t>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Threshold</a:t>
                      </a:r>
                      <a:r>
                        <a:rPr/>
                        <a:t> </a:t>
                      </a:r>
                      <a:r>
                        <a:rPr/>
                        <a:t>optimized</a:t>
                      </a:r>
                      <a:r>
                        <a:rPr/>
                        <a:t> </a:t>
                      </a:r>
                      <a:r>
                        <a:rPr/>
                        <a:t>on</a:t>
                      </a:r>
                      <a:r>
                        <a:rPr/>
                        <a:t> </a:t>
                      </a:r>
                      <a:r>
                        <a:rPr/>
                        <a:t>test</a:t>
                      </a:r>
                      <a:r>
                        <a:rPr/>
                        <a:t> </a:t>
                      </a:r>
                      <a:r>
                        <a:rPr/>
                        <a:t>set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Threshold</a:t>
                      </a:r>
                      <a:r>
                        <a:rPr/>
                        <a:t> </a:t>
                      </a:r>
                      <a:r>
                        <a:rPr/>
                        <a:t>optimized</a:t>
                      </a:r>
                      <a:r>
                        <a:rPr/>
                        <a:t> </a:t>
                      </a:r>
                      <a:r>
                        <a:rPr/>
                        <a:t>on</a:t>
                      </a:r>
                      <a:r>
                        <a:rPr/>
                        <a:t> </a:t>
                      </a:r>
                      <a:r>
                        <a:rPr/>
                        <a:t>validation</a:t>
                      </a:r>
                      <a:r>
                        <a:rPr/>
                        <a:t> </a:t>
                      </a:r>
                      <a:r>
                        <a:rPr/>
                        <a:t>set</a:t>
                      </a:r>
                      <a:r>
                        <a:rPr/>
                        <a:t> </a:t>
                      </a:r>
                      <a:r>
                        <a:rPr/>
                        <a:t>only;</a:t>
                      </a:r>
                      <a:r>
                        <a:rPr/>
                        <a:t> </a:t>
                      </a:r>
                      <a:r>
                        <a:rPr/>
                        <a:t>test</a:t>
                      </a:r>
                      <a:r>
                        <a:rPr/>
                        <a:t> </a:t>
                      </a:r>
                      <a:r>
                        <a:rPr/>
                        <a:t>set</a:t>
                      </a:r>
                      <a:r>
                        <a:rPr/>
                        <a:t> </a:t>
                      </a:r>
                      <a:r>
                        <a:rPr/>
                        <a:t>reserved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Enforced</a:t>
                      </a:r>
                      <a:r>
                        <a:rPr/>
                        <a:t> </a:t>
                      </a:r>
                      <a:r>
                        <a:rPr/>
                        <a:t>by</a:t>
                      </a:r>
                      <a:r>
                        <a:rPr/>
                        <a:t> </a:t>
                      </a:r>
                      <a:r>
                        <a:rPr/>
                        <a:t>pipeline</a:t>
                      </a:r>
                      <a:r>
                        <a:rPr/>
                        <a:t> </a:t>
                      </a:r>
                      <a:r>
                        <a:rPr/>
                        <a:t>design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Model</a:t>
                      </a:r>
                      <a:r>
                        <a:rPr/>
                        <a:t> </a:t>
                      </a:r>
                      <a:r>
                        <a:rPr/>
                        <a:t>selection</a:t>
                      </a:r>
                      <a:r>
                        <a:rPr/>
                        <a:t> </a:t>
                      </a:r>
                      <a:r>
                        <a:rPr/>
                        <a:t>on</a:t>
                      </a:r>
                      <a:r>
                        <a:rPr/>
                        <a:t> </a:t>
                      </a:r>
                      <a:r>
                        <a:rPr/>
                        <a:t>test</a:t>
                      </a:r>
                      <a:r>
                        <a:rPr/>
                        <a:t> </a:t>
                      </a:r>
                      <a:r>
                        <a:rPr/>
                        <a:t>set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Model</a:t>
                      </a:r>
                      <a:r>
                        <a:rPr/>
                        <a:t> </a:t>
                      </a:r>
                      <a:r>
                        <a:rPr/>
                        <a:t>comparison</a:t>
                      </a:r>
                      <a:r>
                        <a:rPr/>
                        <a:t> </a:t>
                      </a:r>
                      <a:r>
                        <a:rPr/>
                        <a:t>uses</a:t>
                      </a:r>
                      <a:r>
                        <a:rPr/>
                        <a:t> </a:t>
                      </a:r>
                      <a:r>
                        <a:rPr/>
                        <a:t>validation</a:t>
                      </a:r>
                      <a:r>
                        <a:rPr/>
                        <a:t> </a:t>
                      </a:r>
                      <a:r>
                        <a:rPr/>
                        <a:t>metrics</a:t>
                      </a:r>
                      <a:r>
                        <a:rPr/>
                        <a:t> </a:t>
                      </a:r>
                      <a:r>
                        <a:rPr/>
                        <a:t>only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Architecture</a:t>
                      </a:r>
                      <a:r>
                        <a:rPr/>
                        <a:t> </a:t>
                      </a:r>
                      <a:r>
                        <a:rPr/>
                        <a:t>enforced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Duplicate</a:t>
                      </a:r>
                      <a:r>
                        <a:rPr/>
                        <a:t> </a:t>
                      </a:r>
                      <a:r>
                        <a:rPr/>
                        <a:t>leakage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Duplicates</a:t>
                      </a:r>
                      <a:r>
                        <a:rPr/>
                        <a:t> </a:t>
                      </a:r>
                      <a:r>
                        <a:rPr/>
                        <a:t>dropped</a:t>
                      </a:r>
                      <a:r>
                        <a:rPr/>
                        <a:t> </a:t>
                      </a:r>
                      <a:r>
                        <a:rPr/>
                        <a:t>before</a:t>
                      </a:r>
                      <a:r>
                        <a:rPr/>
                        <a:t> </a:t>
                      </a:r>
                      <a:r>
                        <a:rPr/>
                        <a:t>split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1,081</a:t>
                      </a:r>
                      <a:r>
                        <a:rPr/>
                        <a:t> </a:t>
                      </a:r>
                      <a:r>
                        <a:rPr/>
                        <a:t>duplicates</a:t>
                      </a:r>
                      <a:r>
                        <a:rPr/>
                        <a:t> </a:t>
                      </a:r>
                      <a:r>
                        <a:rPr/>
                        <a:t>removed</a:t>
                      </a:r>
                      <a:r>
                        <a:rPr/>
                        <a:t> </a:t>
                      </a:r>
                      <a:r>
                        <a:rPr/>
                        <a:t>pre-split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Runtime leakage check output:</a:t>
            </a:r>
          </a:p>
          <a:p>
            <a:pPr lvl="0" marL="1270000" indent="0">
              <a:buNone/>
            </a:pPr>
            <a:r>
              <a:rPr sz="1800">
                <a:latin typeface="Courier"/>
              </a:rPr>
              <a:t>INFO | Leakage check passed: zero index overlap between train and test.</a:t>
            </a:r>
          </a:p>
          <a:p>
            <a:pPr lvl="0" marL="0" indent="0">
              <a:buNone/>
            </a:pPr>
            <a:r>
              <a:rPr b="1"/>
              <a:t>Batch vs single-row inference consistency:</a:t>
            </a:r>
          </a:p>
          <a:p>
            <a:pPr lvl="0" marL="1270000" indent="0">
              <a:buNone/>
            </a:pPr>
            <a:r>
              <a:rPr sz="1800">
                <a:latin typeface="Courier"/>
              </a:rPr>
              <a:t>[OK] Consistency check PASSED: max diff = 0.00e+00</a:t>
            </a:r>
          </a:p>
          <a:p>
            <a:pPr lvl="0" marL="0" indent="0">
              <a:buNone/>
            </a:pPr>
            <a:r>
              <a:rPr/>
              <a:t>This confirms that the inference path (single transaction) and the training path (batch transform) are mathematically identical.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9.</a:t>
            </a:r>
            <a:r>
              <a:rPr/>
              <a:t> </a:t>
            </a:r>
            <a:r>
              <a:rPr/>
              <a:t>Test</a:t>
            </a:r>
            <a:r>
              <a:rPr/>
              <a:t> </a:t>
            </a:r>
            <a:r>
              <a:rPr/>
              <a:t>Suite</a:t>
            </a:r>
            <a:r>
              <a:rPr/>
              <a:t> </a:t>
            </a:r>
            <a:r>
              <a:rPr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9.1 Summary</a:t>
            </a:r>
          </a:p>
          <a:p>
            <a:pPr lvl="0" marL="1270000" indent="0">
              <a:buNone/>
            </a:pPr>
            <a:r>
              <a:rPr sz="1800">
                <a:latin typeface="Courier"/>
              </a:rPr>
              <a:t>============================= test session starts =============================
platform win32 -- Python 3.13.5, pytest-9.1.1
collected 59 items
tests/test_data_loader.py .......................   (24 tests)
tests/test_features.py .................................  (35 tests)
============================= 59 passed in 2.36s ==============================</a:t>
            </a:r>
          </a:p>
          <a:p>
            <a:pPr lvl="0" marL="0" indent="0">
              <a:buNone/>
            </a:pPr>
            <a:r>
              <a:rPr b="1"/>
              <a:t>Result: 59/59 PASSED — 0 failures, 0 errors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9.2 Test Coverage by Category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Test</a:t>
                      </a:r>
                      <a:r>
                        <a:rPr/>
                        <a:t> </a:t>
                      </a:r>
                      <a:r>
                        <a:rPr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What</a:t>
                      </a:r>
                      <a:r>
                        <a:rPr/>
                        <a:t> </a:t>
                      </a:r>
                      <a:r>
                        <a:rPr/>
                        <a:t>It</a:t>
                      </a:r>
                      <a:r>
                        <a:rPr/>
                        <a:t> </a:t>
                      </a:r>
                      <a:r>
                        <a:rPr/>
                        <a:t>Verifies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TestDataLoaderInit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Initialization,</a:t>
                      </a:r>
                      <a:r>
                        <a:rPr/>
                        <a:t> </a:t>
                      </a:r>
                      <a:r>
                        <a:rPr/>
                        <a:t>custom</a:t>
                      </a:r>
                      <a:r>
                        <a:rPr/>
                        <a:t> </a:t>
                      </a:r>
                      <a:r>
                        <a:rPr/>
                        <a:t>paths,</a:t>
                      </a:r>
                      <a:r>
                        <a:rPr/>
                        <a:t> </a:t>
                      </a:r>
                      <a:r>
                        <a:rPr/>
                        <a:t>missing-file</a:t>
                      </a:r>
                      <a:r>
                        <a:rPr/>
                        <a:t> </a:t>
                      </a:r>
                      <a:r>
                        <a:rPr/>
                        <a:t>handling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TestDataLoaderStatistics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Row</a:t>
                      </a:r>
                      <a:r>
                        <a:rPr/>
                        <a:t> </a:t>
                      </a:r>
                      <a:r>
                        <a:rPr/>
                        <a:t>counts,</a:t>
                      </a:r>
                      <a:r>
                        <a:rPr/>
                        <a:t> </a:t>
                      </a:r>
                      <a:r>
                        <a:rPr/>
                        <a:t>fraud</a:t>
                      </a:r>
                      <a:r>
                        <a:rPr/>
                        <a:t> </a:t>
                      </a:r>
                      <a:r>
                        <a:rPr/>
                        <a:t>counts,</a:t>
                      </a:r>
                      <a:r>
                        <a:rPr/>
                        <a:t> </a:t>
                      </a:r>
                      <a:r>
                        <a:rPr/>
                        <a:t>missing</a:t>
                      </a:r>
                      <a:r>
                        <a:rPr/>
                        <a:t> </a:t>
                      </a:r>
                      <a:r>
                        <a:rPr/>
                        <a:t>value</a:t>
                      </a:r>
                      <a:r>
                        <a:rPr/>
                        <a:t> </a:t>
                      </a:r>
                      <a:r>
                        <a:rPr/>
                        <a:t>detection,</a:t>
                      </a:r>
                      <a:r>
                        <a:rPr/>
                        <a:t> </a:t>
                      </a:r>
                      <a:r>
                        <a:rPr/>
                        <a:t>duplicate</a:t>
                      </a:r>
                      <a:r>
                        <a:rPr/>
                        <a:t> </a:t>
                      </a:r>
                      <a:r>
                        <a:rPr/>
                        <a:t>detection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TestDataLoaderColumnHelpers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PCA</a:t>
                      </a:r>
                      <a:r>
                        <a:rPr/>
                        <a:t> </a:t>
                      </a:r>
                      <a:r>
                        <a:rPr/>
                        <a:t>column</a:t>
                      </a:r>
                      <a:r>
                        <a:rPr/>
                        <a:t> </a:t>
                      </a:r>
                      <a:r>
                        <a:rPr/>
                        <a:t>detection,</a:t>
                      </a:r>
                      <a:r>
                        <a:rPr/>
                        <a:t> </a:t>
                      </a:r>
                      <a:r>
                        <a:rPr/>
                        <a:t>feature</a:t>
                      </a:r>
                      <a:r>
                        <a:rPr/>
                        <a:t> </a:t>
                      </a:r>
                      <a:r>
                        <a:rPr/>
                        <a:t>column</a:t>
                      </a:r>
                      <a:r>
                        <a:rPr/>
                        <a:t> </a:t>
                      </a:r>
                      <a:r>
                        <a:rPr/>
                        <a:t>exclusion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TestDataValidatorHardChecks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Missing</a:t>
                      </a:r>
                      <a:r>
                        <a:rPr/>
                        <a:t> </a:t>
                      </a:r>
                      <a:r>
                        <a:rPr/>
                        <a:t>target,</a:t>
                      </a:r>
                      <a:r>
                        <a:rPr/>
                        <a:t> </a:t>
                      </a:r>
                      <a:r>
                        <a:rPr/>
                        <a:t>invalid</a:t>
                      </a:r>
                      <a:r>
                        <a:rPr/>
                        <a:t> </a:t>
                      </a:r>
                      <a:r>
                        <a:rPr/>
                        <a:t>target</a:t>
                      </a:r>
                      <a:r>
                        <a:rPr/>
                        <a:t> </a:t>
                      </a:r>
                      <a:r>
                        <a:rPr/>
                        <a:t>values,</a:t>
                      </a:r>
                      <a:r>
                        <a:rPr/>
                        <a:t> </a:t>
                      </a:r>
                      <a:r>
                        <a:rPr/>
                        <a:t>all-null</a:t>
                      </a:r>
                      <a:r>
                        <a:rPr/>
                        <a:t> </a:t>
                      </a:r>
                      <a:r>
                        <a:rPr/>
                        <a:t>columns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TestDataValidatorReport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Report</a:t>
                      </a:r>
                      <a:r>
                        <a:rPr/>
                        <a:t> </a:t>
                      </a:r>
                      <a:r>
                        <a:rPr/>
                        <a:t>structure,</a:t>
                      </a:r>
                      <a:r>
                        <a:rPr/>
                        <a:t> </a:t>
                      </a:r>
                      <a:r>
                        <a:rPr/>
                        <a:t>fraud</a:t>
                      </a:r>
                      <a:r>
                        <a:rPr/>
                        <a:t> </a:t>
                      </a:r>
                      <a:r>
                        <a:rPr/>
                        <a:t>stats,</a:t>
                      </a:r>
                      <a:r>
                        <a:rPr/>
                        <a:t> </a:t>
                      </a:r>
                      <a:r>
                        <a:rPr/>
                        <a:t>warnings,</a:t>
                      </a:r>
                      <a:r>
                        <a:rPr/>
                        <a:t> </a:t>
                      </a:r>
                      <a:r>
                        <a:rPr/>
                        <a:t>amount</a:t>
                      </a:r>
                      <a:r>
                        <a:rPr/>
                        <a:t> </a:t>
                      </a:r>
                      <a:r>
                        <a:rPr/>
                        <a:t>stats,</a:t>
                      </a:r>
                      <a:r>
                        <a:rPr/>
                        <a:t> </a:t>
                      </a:r>
                      <a:r>
                        <a:rPr/>
                        <a:t>time</a:t>
                      </a:r>
                      <a:r>
                        <a:rPr/>
                        <a:t> </a:t>
                      </a:r>
                      <a:r>
                        <a:rPr/>
                        <a:t>stats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TestFeatureEngineerTransform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No</a:t>
                      </a:r>
                      <a:r>
                        <a:rPr/>
                        <a:t> </a:t>
                      </a:r>
                      <a:r>
                        <a:rPr/>
                        <a:t>original</a:t>
                      </a:r>
                      <a:r>
                        <a:rPr/>
                        <a:t> </a:t>
                      </a:r>
                      <a:r>
                        <a:rPr/>
                        <a:t>modification,</a:t>
                      </a:r>
                      <a:r>
                        <a:rPr/>
                        <a:t> </a:t>
                      </a:r>
                      <a:r>
                        <a:rPr/>
                        <a:t>log_amount,</a:t>
                      </a:r>
                      <a:r>
                        <a:rPr/>
                        <a:t> </a:t>
                      </a:r>
                      <a:r>
                        <a:rPr/>
                        <a:t>hour_of_day,</a:t>
                      </a:r>
                      <a:r>
                        <a:rPr/>
                        <a:t> </a:t>
                      </a:r>
                      <a:r>
                        <a:rPr/>
                        <a:t>is_night</a:t>
                      </a:r>
                      <a:r>
                        <a:rPr/>
                        <a:t> </a:t>
                      </a:r>
                      <a:r>
                        <a:rPr/>
                        <a:t>(correctness,</a:t>
                      </a:r>
                      <a:r>
                        <a:rPr/>
                        <a:t> </a:t>
                      </a:r>
                      <a:r>
                        <a:rPr/>
                        <a:t>edge</a:t>
                      </a:r>
                      <a:r>
                        <a:rPr/>
                        <a:t> </a:t>
                      </a:r>
                      <a:r>
                        <a:rPr/>
                        <a:t>cases,</a:t>
                      </a:r>
                      <a:r>
                        <a:rPr/>
                        <a:t> </a:t>
                      </a:r>
                      <a:r>
                        <a:rPr/>
                        <a:t>ranges)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TestFeatureEngineerGetXy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Target</a:t>
                      </a:r>
                      <a:r>
                        <a:rPr/>
                        <a:t> </a:t>
                      </a:r>
                      <a:r>
                        <a:rPr/>
                        <a:t>separation,</a:t>
                      </a:r>
                      <a:r>
                        <a:rPr/>
                        <a:t> </a:t>
                      </a:r>
                      <a:r>
                        <a:rPr/>
                        <a:t>row</a:t>
                      </a:r>
                      <a:r>
                        <a:rPr/>
                        <a:t> </a:t>
                      </a:r>
                      <a:r>
                        <a:rPr/>
                        <a:t>preservation,</a:t>
                      </a:r>
                      <a:r>
                        <a:rPr/>
                        <a:t> </a:t>
                      </a:r>
                      <a:r>
                        <a:rPr/>
                        <a:t>binary</a:t>
                      </a:r>
                      <a:r>
                        <a:rPr/>
                        <a:t> </a:t>
                      </a:r>
                      <a:r>
                        <a:rPr/>
                        <a:t>check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TestFeatureEngineerTransformSingle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Single-row</a:t>
                      </a:r>
                      <a:r>
                        <a:rPr/>
                        <a:t> </a:t>
                      </a:r>
                      <a:r>
                        <a:rPr/>
                        <a:t>inference</a:t>
                      </a:r>
                      <a:r>
                        <a:rPr/>
                        <a:t> </a:t>
                      </a:r>
                      <a:r>
                        <a:rPr/>
                        <a:t>shape</a:t>
                      </a:r>
                      <a:r>
                        <a:rPr/>
                        <a:t> </a:t>
                      </a:r>
                      <a:r>
                        <a:rPr/>
                        <a:t>and</a:t>
                      </a:r>
                      <a:r>
                        <a:rPr/>
                        <a:t> </a:t>
                      </a:r>
                      <a:r>
                        <a:rPr/>
                        <a:t>features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TestPreprocessingPipelineLeakage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Split</a:t>
                      </a:r>
                      <a:r>
                        <a:rPr/>
                        <a:t> </a:t>
                      </a:r>
                      <a:r>
                        <a:rPr/>
                        <a:t>sizes,</a:t>
                      </a:r>
                      <a:r>
                        <a:rPr/>
                        <a:t> </a:t>
                      </a:r>
                      <a:r>
                        <a:rPr/>
                        <a:t>no</a:t>
                      </a:r>
                      <a:r>
                        <a:rPr/>
                        <a:t> </a:t>
                      </a:r>
                      <a:r>
                        <a:rPr/>
                        <a:t>index</a:t>
                      </a:r>
                      <a:r>
                        <a:rPr/>
                        <a:t> </a:t>
                      </a:r>
                      <a:r>
                        <a:rPr/>
                        <a:t>overlap,</a:t>
                      </a:r>
                      <a:r>
                        <a:rPr/>
                        <a:t> </a:t>
                      </a:r>
                      <a:r>
                        <a:rPr/>
                        <a:t>scaler</a:t>
                      </a:r>
                      <a:r>
                        <a:rPr/>
                        <a:t> </a:t>
                      </a:r>
                      <a:r>
                        <a:rPr/>
                        <a:t>from</a:t>
                      </a:r>
                      <a:r>
                        <a:rPr/>
                        <a:t> </a:t>
                      </a:r>
                      <a:r>
                        <a:rPr/>
                        <a:t>train,</a:t>
                      </a:r>
                      <a:r>
                        <a:rPr/>
                        <a:t> </a:t>
                      </a:r>
                      <a:r>
                        <a:rPr/>
                        <a:t>stratification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TestPreprocessingPipelineOutput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numpy</a:t>
                      </a:r>
                      <a:r>
                        <a:rPr/>
                        <a:t> </a:t>
                      </a:r>
                      <a:r>
                        <a:rPr/>
                        <a:t>arrays,</a:t>
                      </a:r>
                      <a:r>
                        <a:rPr/>
                        <a:t> </a:t>
                      </a:r>
                      <a:r>
                        <a:rPr/>
                        <a:t>shape</a:t>
                      </a:r>
                      <a:r>
                        <a:rPr/>
                        <a:t> </a:t>
                      </a:r>
                      <a:r>
                        <a:rPr/>
                        <a:t>consistency,</a:t>
                      </a:r>
                      <a:r>
                        <a:rPr/>
                        <a:t> </a:t>
                      </a:r>
                      <a:r>
                        <a:rPr/>
                        <a:t>zero-mean</a:t>
                      </a:r>
                      <a:r>
                        <a:rPr/>
                        <a:t> </a:t>
                      </a:r>
                      <a:r>
                        <a:rPr/>
                        <a:t>train,</a:t>
                      </a:r>
                      <a:r>
                        <a:rPr/>
                        <a:t> </a:t>
                      </a:r>
                      <a:r>
                        <a:rPr/>
                        <a:t>unit-variance</a:t>
                      </a:r>
                      <a:r>
                        <a:rPr/>
                        <a:t> </a:t>
                      </a:r>
                      <a:r>
                        <a:rPr/>
                        <a:t>train,</a:t>
                      </a:r>
                      <a:r>
                        <a:rPr/>
                        <a:t> </a:t>
                      </a:r>
                      <a:r>
                        <a:rPr/>
                        <a:t>no</a:t>
                      </a:r>
                      <a:r>
                        <a:rPr/>
                        <a:t> </a:t>
                      </a:r>
                      <a:r>
                        <a:rPr/>
                        <a:t>NaN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TestPreprocessingPipelineConsistency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Batch≡single-row,</a:t>
                      </a:r>
                      <a:r>
                        <a:rPr/>
                        <a:t> </a:t>
                      </a:r>
                      <a:r>
                        <a:rPr/>
                        <a:t>unfitted</a:t>
                      </a:r>
                      <a:r>
                        <a:rPr/>
                        <a:t> </a:t>
                      </a:r>
                      <a:r>
                        <a:rPr/>
                        <a:t>error,</a:t>
                      </a:r>
                      <a:r>
                        <a:rPr/>
                        <a:t> </a:t>
                      </a:r>
                      <a:r>
                        <a:rPr/>
                        <a:t>double-fit</a:t>
                      </a:r>
                      <a:r>
                        <a:rPr/>
                        <a:t> </a:t>
                      </a:r>
                      <a:r>
                        <a:rPr/>
                        <a:t>error,</a:t>
                      </a:r>
                      <a:r>
                        <a:rPr/>
                        <a:t> </a:t>
                      </a:r>
                      <a:r>
                        <a:rPr/>
                        <a:t>reset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TestPreprocessingPipelineSaveLoad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Save/load</a:t>
                      </a:r>
                      <a:r>
                        <a:rPr/>
                        <a:t> </a:t>
                      </a:r>
                      <a:r>
                        <a:rPr/>
                        <a:t>produces</a:t>
                      </a:r>
                      <a:r>
                        <a:rPr/>
                        <a:t> </a:t>
                      </a:r>
                      <a:r>
                        <a:rPr/>
                        <a:t>identical</a:t>
                      </a:r>
                      <a:r>
                        <a:rPr/>
                        <a:t> </a:t>
                      </a:r>
                      <a:r>
                        <a:rPr/>
                        <a:t>output,</a:t>
                      </a:r>
                      <a:r>
                        <a:rPr/>
                        <a:t> </a:t>
                      </a:r>
                      <a:r>
                        <a:rPr/>
                        <a:t>missing-file</a:t>
                      </a:r>
                      <a:r>
                        <a:rPr/>
                        <a:t> </a:t>
                      </a:r>
                      <a:r>
                        <a:rPr/>
                        <a:t>error,</a:t>
                      </a:r>
                      <a:r>
                        <a:rPr/>
                        <a:t> </a:t>
                      </a:r>
                      <a:r>
                        <a:rPr/>
                        <a:t>metadata</a:t>
                      </a:r>
                      <a:r>
                        <a:rPr/>
                        <a:t> </a:t>
                      </a:r>
                      <a:r>
                        <a:rPr/>
                        <a:t>persistence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All tests use </a:t>
            </a:r>
            <a:r>
              <a:rPr b="1"/>
              <a:t>synthetic fixtures</a:t>
            </a:r>
            <a:r>
              <a:rPr/>
              <a:t> — no dependency on the real dataset file, so tests run fast (2.36 seconds) and can be executed offline.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10.</a:t>
            </a:r>
            <a:r>
              <a:rPr/>
              <a:t> </a:t>
            </a:r>
            <a:r>
              <a:rPr/>
              <a:t>Deliverables</a:t>
            </a:r>
            <a:r>
              <a:rPr/>
              <a:t> </a:t>
            </a:r>
            <a:r>
              <a:rPr/>
              <a:t>Inventory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Documentation Files (Complete)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Status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README.md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Complete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docs/ARCHITECTURE.md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Complete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docs/DATA_DICTIONARY.md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Complete</a:t>
                      </a:r>
                      <a:r>
                        <a:rPr/>
                        <a:t> </a:t>
                      </a:r>
                      <a:r>
                        <a:rPr/>
                        <a:t>(verified</a:t>
                      </a:r>
                      <a:r>
                        <a:rPr/>
                        <a:t> </a:t>
                      </a:r>
                      <a:r>
                        <a:rPr/>
                        <a:t>with</a:t>
                      </a:r>
                      <a:r>
                        <a:rPr/>
                        <a:t> </a:t>
                      </a:r>
                      <a:r>
                        <a:rPr/>
                        <a:t>real</a:t>
                      </a:r>
                      <a:r>
                        <a:rPr/>
                        <a:t> </a:t>
                      </a:r>
                      <a:r>
                        <a:rPr/>
                        <a:t>data)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docs/MODEL_EXPERIMENTS.md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Template</a:t>
                      </a:r>
                      <a:r>
                        <a:rPr/>
                        <a:t> </a:t>
                      </a:r>
                      <a:r>
                        <a:rPr/>
                        <a:t>ready</a:t>
                      </a:r>
                      <a:r>
                        <a:rPr/>
                        <a:t> </a:t>
                      </a:r>
                      <a:r>
                        <a:rPr/>
                        <a:t>—</a:t>
                      </a:r>
                      <a:r>
                        <a:rPr/>
                        <a:t> </a:t>
                      </a:r>
                      <a:r>
                        <a:rPr/>
                        <a:t>awaiting</a:t>
                      </a:r>
                      <a:r>
                        <a:rPr/>
                        <a:t> </a:t>
                      </a:r>
                      <a:r>
                        <a:rPr/>
                        <a:t>Phase</a:t>
                      </a:r>
                      <a:r>
                        <a:rPr/>
                        <a:t> </a:t>
                      </a:r>
                      <a:r>
                        <a:rPr/>
                        <a:t>2</a:t>
                      </a:r>
                      <a:r>
                        <a:rPr/>
                        <a:t> </a:t>
                      </a:r>
                      <a:r>
                        <a:rPr/>
                        <a:t>training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docs/API.md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Complete</a:t>
                      </a:r>
                      <a:r>
                        <a:rPr/>
                        <a:t> </a:t>
                      </a:r>
                      <a:r>
                        <a:rPr/>
                        <a:t>(design</a:t>
                      </a:r>
                      <a:r>
                        <a:rPr/>
                        <a:t> </a:t>
                      </a:r>
                      <a:r>
                        <a:rPr/>
                        <a:t>ready)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docs/SETUP.md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Complete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data/README.md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Complete</a:t>
                      </a:r>
                      <a:r>
                        <a:rPr/>
                        <a:t> </a:t>
                      </a:r>
                      <a:r>
                        <a:rPr/>
                        <a:t>(download</a:t>
                      </a:r>
                      <a:r>
                        <a:rPr/>
                        <a:t> </a:t>
                      </a:r>
                      <a:r>
                        <a:rPr/>
                        <a:t>instructions)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Code Modules (Complete)</a:t>
            </a:r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Status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src/utils/config.py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Complete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src/utils/logger.py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Complete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src/utils/serialization.py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Complete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src/data/loader.py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Complete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src/data/validator.py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Complete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src/features/engineering.py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Complete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src/features/pipeline.py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Complete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src/models/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Phase</a:t>
                      </a:r>
                      <a:r>
                        <a:rPr/>
                        <a:t> </a:t>
                      </a:r>
                      <a:r>
                        <a:rPr/>
                        <a:t>2</a:t>
                      </a:r>
                      <a:r>
                        <a:rPr/>
                        <a:t> </a:t>
                      </a:r>
                      <a:r>
                        <a:rPr/>
                        <a:t>—</a:t>
                      </a:r>
                      <a:r>
                        <a:rPr/>
                        <a:t> </a:t>
                      </a:r>
                      <a:r>
                        <a:rPr/>
                        <a:t>next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src/evaluation/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Phase</a:t>
                      </a:r>
                      <a:r>
                        <a:rPr/>
                        <a:t> </a:t>
                      </a:r>
                      <a:r>
                        <a:rPr/>
                        <a:t>2</a:t>
                      </a:r>
                      <a:r>
                        <a:rPr/>
                        <a:t> </a:t>
                      </a:r>
                      <a:r>
                        <a:rPr/>
                        <a:t>—</a:t>
                      </a:r>
                      <a:r>
                        <a:rPr/>
                        <a:t> </a:t>
                      </a:r>
                      <a:r>
                        <a:rPr/>
                        <a:t>next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src/explainability/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Phase</a:t>
                      </a:r>
                      <a:r>
                        <a:rPr/>
                        <a:t> </a:t>
                      </a:r>
                      <a:r>
                        <a:rPr/>
                        <a:t>3</a:t>
                      </a:r>
                      <a:r>
                        <a:rPr/>
                        <a:t> </a:t>
                      </a:r>
                      <a:r>
                        <a:rPr/>
                        <a:t>—</a:t>
                      </a:r>
                      <a:r>
                        <a:rPr/>
                        <a:t> </a:t>
                      </a:r>
                      <a:r>
                        <a:rPr/>
                        <a:t>planned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src/risk/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Phase</a:t>
                      </a:r>
                      <a:r>
                        <a:rPr/>
                        <a:t> </a:t>
                      </a:r>
                      <a:r>
                        <a:rPr/>
                        <a:t>3</a:t>
                      </a:r>
                      <a:r>
                        <a:rPr/>
                        <a:t> </a:t>
                      </a:r>
                      <a:r>
                        <a:rPr/>
                        <a:t>—</a:t>
                      </a:r>
                      <a:r>
                        <a:rPr/>
                        <a:t> </a:t>
                      </a:r>
                      <a:r>
                        <a:rPr/>
                        <a:t>planned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src/monitoring/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Phase</a:t>
                      </a:r>
                      <a:r>
                        <a:rPr/>
                        <a:t> </a:t>
                      </a:r>
                      <a:r>
                        <a:rPr/>
                        <a:t>3</a:t>
                      </a:r>
                      <a:r>
                        <a:rPr/>
                        <a:t> </a:t>
                      </a:r>
                      <a:r>
                        <a:rPr/>
                        <a:t>—</a:t>
                      </a:r>
                      <a:r>
                        <a:rPr/>
                        <a:t> </a:t>
                      </a:r>
                      <a:r>
                        <a:rPr/>
                        <a:t>planned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app/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Phase</a:t>
                      </a:r>
                      <a:r>
                        <a:rPr/>
                        <a:t> </a:t>
                      </a:r>
                      <a:r>
                        <a:rPr/>
                        <a:t>4</a:t>
                      </a:r>
                      <a:r>
                        <a:rPr/>
                        <a:t> </a:t>
                      </a:r>
                      <a:r>
                        <a:rPr/>
                        <a:t>—</a:t>
                      </a:r>
                      <a:r>
                        <a:rPr/>
                        <a:t> </a:t>
                      </a:r>
                      <a:r>
                        <a:rPr/>
                        <a:t>planned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Scripts (Complete)</a:t>
            </a:r>
          </a:p>
        </p:txBody>
      </p:sp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Status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scripts/check_phase0.py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Verify</a:t>
                      </a:r>
                      <a:r>
                        <a:rPr/>
                        <a:t> </a:t>
                      </a:r>
                      <a:r>
                        <a:rPr/>
                        <a:t>environment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Complete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scripts/verify_dataset.py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Verify</a:t>
                      </a:r>
                      <a:r>
                        <a:rPr/>
                        <a:t> </a:t>
                      </a:r>
                      <a:r>
                        <a:rPr/>
                        <a:t>dataset</a:t>
                      </a:r>
                      <a:r>
                        <a:rPr/>
                        <a:t> </a:t>
                      </a:r>
                      <a:r>
                        <a:rPr/>
                        <a:t>loaded</a:t>
                      </a:r>
                      <a:r>
                        <a:rPr/>
                        <a:t> </a:t>
                      </a:r>
                      <a:r>
                        <a:rPr/>
                        <a:t>correctly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Complete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scripts/inspect_dataset.py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Deep</a:t>
                      </a:r>
                      <a:r>
                        <a:rPr/>
                        <a:t> </a:t>
                      </a:r>
                      <a:r>
                        <a:rPr/>
                        <a:t>statistical</a:t>
                      </a:r>
                      <a:r>
                        <a:rPr/>
                        <a:t> </a:t>
                      </a:r>
                      <a:r>
                        <a:rPr/>
                        <a:t>analysis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Complete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scripts/verify_artifacts.py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Verify</a:t>
                      </a:r>
                      <a:r>
                        <a:rPr/>
                        <a:t> </a:t>
                      </a:r>
                      <a:r>
                        <a:rPr/>
                        <a:t>saved</a:t>
                      </a:r>
                      <a:r>
                        <a:rPr/>
                        <a:t> </a:t>
                      </a:r>
                      <a:r>
                        <a:rPr/>
                        <a:t>pipeline</a:t>
                      </a:r>
                      <a:r>
                        <a:rPr/>
                        <a:t> </a:t>
                      </a:r>
                      <a:r>
                        <a:rPr/>
                        <a:t>artifacts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Complete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scripts/preprocess.py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End-to-end</a:t>
                      </a:r>
                      <a:r>
                        <a:rPr/>
                        <a:t> </a:t>
                      </a:r>
                      <a:r>
                        <a:rPr/>
                        <a:t>preprocessing</a:t>
                      </a:r>
                      <a:r>
                        <a:rPr/>
                        <a:t> </a:t>
                      </a:r>
                      <a:r>
                        <a:rPr/>
                        <a:t>CLI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Complete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Saved Artifacts (On Disk)</a:t>
            </a:r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Artifact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Status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artifacts/pipelines/preprocessing_pipeline.joblib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2,896</a:t>
                      </a:r>
                      <a:r>
                        <a:rPr/>
                        <a:t> </a:t>
                      </a:r>
                      <a:r>
                        <a:rPr/>
                        <a:t>bytes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Saved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artifacts/pipelines/preprocessing_metadata.json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~3</a:t>
                      </a:r>
                      <a:r>
                        <a:rPr/>
                        <a:t> </a:t>
                      </a:r>
                      <a:r>
                        <a:rPr/>
                        <a:t>KB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Saved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data/processed/train.parquet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Saved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data/processed/validation.parquet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Saved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data/processed/test.parquet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Saved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11.</a:t>
            </a:r>
            <a:r>
              <a:rPr/>
              <a:t> </a:t>
            </a:r>
            <a:r>
              <a:rPr/>
              <a:t>Verified</a:t>
            </a:r>
            <a:r>
              <a:rPr/>
              <a:t> </a:t>
            </a:r>
            <a:r>
              <a:rPr/>
              <a:t>Numbers</a:t>
            </a:r>
            <a:r>
              <a:rPr/>
              <a:t> </a:t>
            </a:r>
            <a:r>
              <a:rPr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All numbers in this section were obtained by running code against the actual dataset. Nothing is estimated.</a:t>
            </a:r>
          </a:p>
        </p:txBody>
      </p:sp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Raw</a:t>
                      </a:r>
                      <a:r>
                        <a:rPr/>
                        <a:t> </a:t>
                      </a:r>
                      <a:r>
                        <a:rPr/>
                        <a:t>dataset</a:t>
                      </a:r>
                      <a:r>
                        <a:rPr/>
                        <a:t> </a:t>
                      </a:r>
                      <a:r>
                        <a:rPr/>
                        <a:t>rows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284,807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Raw</a:t>
                      </a:r>
                      <a:r>
                        <a:rPr/>
                        <a:t> </a:t>
                      </a:r>
                      <a:r>
                        <a:rPr/>
                        <a:t>dataset</a:t>
                      </a:r>
                      <a:r>
                        <a:rPr/>
                        <a:t> </a:t>
                      </a:r>
                      <a:r>
                        <a:rPr/>
                        <a:t>columns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31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Fraud</a:t>
                      </a:r>
                      <a:r>
                        <a:rPr/>
                        <a:t> </a:t>
                      </a:r>
                      <a:r>
                        <a:rPr/>
                        <a:t>transactions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492</a:t>
                      </a:r>
                      <a:r>
                        <a:rPr/>
                        <a:t> </a:t>
                      </a:r>
                      <a:r>
                        <a:rPr/>
                        <a:t>(0.1727%)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Legitimate</a:t>
                      </a:r>
                      <a:r>
                        <a:rPr/>
                        <a:t> </a:t>
                      </a:r>
                      <a:r>
                        <a:rPr/>
                        <a:t>transactions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284,315</a:t>
                      </a:r>
                      <a:r>
                        <a:rPr/>
                        <a:t> </a:t>
                      </a:r>
                      <a:r>
                        <a:rPr/>
                        <a:t>(99.8273%)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Imbalance</a:t>
                      </a:r>
                      <a:r>
                        <a:rPr/>
                        <a:t> </a:t>
                      </a:r>
                      <a:r>
                        <a:rPr/>
                        <a:t>ratio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</a:t>
                      </a:r>
                      <a:r>
                        <a:rPr/>
                        <a:t> </a:t>
                      </a:r>
                      <a:r>
                        <a:rPr/>
                        <a:t>:</a:t>
                      </a:r>
                      <a:r>
                        <a:rPr/>
                        <a:t> </a:t>
                      </a:r>
                      <a:r>
                        <a:rPr/>
                        <a:t>577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Missing</a:t>
                      </a:r>
                      <a:r>
                        <a:rPr/>
                        <a:t> </a:t>
                      </a:r>
                      <a:r>
                        <a:rPr/>
                        <a:t>values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Duplicate</a:t>
                      </a:r>
                      <a:r>
                        <a:rPr/>
                        <a:t> </a:t>
                      </a:r>
                      <a:r>
                        <a:rPr/>
                        <a:t>rows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1,081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Rows</a:t>
                      </a:r>
                      <a:r>
                        <a:rPr/>
                        <a:t> </a:t>
                      </a:r>
                      <a:r>
                        <a:rPr/>
                        <a:t>after</a:t>
                      </a:r>
                      <a:r>
                        <a:rPr/>
                        <a:t> </a:t>
                      </a:r>
                      <a:r>
                        <a:rPr/>
                        <a:t>deduplication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283,726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Training</a:t>
                      </a:r>
                      <a:r>
                        <a:rPr/>
                        <a:t> </a:t>
                      </a:r>
                      <a:r>
                        <a:rPr/>
                        <a:t>rows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170,235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Validation</a:t>
                      </a:r>
                      <a:r>
                        <a:rPr/>
                        <a:t> </a:t>
                      </a:r>
                      <a:r>
                        <a:rPr/>
                        <a:t>rows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56,745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Test</a:t>
                      </a:r>
                      <a:r>
                        <a:rPr/>
                        <a:t> </a:t>
                      </a:r>
                      <a:r>
                        <a:rPr/>
                        <a:t>rows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56,746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Training</a:t>
                      </a:r>
                      <a:r>
                        <a:rPr/>
                        <a:t> </a:t>
                      </a:r>
                      <a:r>
                        <a:rPr/>
                        <a:t>fraud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284</a:t>
                      </a:r>
                      <a:r>
                        <a:rPr/>
                        <a:t> </a:t>
                      </a:r>
                      <a:r>
                        <a:rPr/>
                        <a:t>(0.167%)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Validation</a:t>
                      </a:r>
                      <a:r>
                        <a:rPr/>
                        <a:t> </a:t>
                      </a:r>
                      <a:r>
                        <a:rPr/>
                        <a:t>fraud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94</a:t>
                      </a:r>
                      <a:r>
                        <a:rPr/>
                        <a:t> </a:t>
                      </a:r>
                      <a:r>
                        <a:rPr/>
                        <a:t>(0.166%)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Test</a:t>
                      </a:r>
                      <a:r>
                        <a:rPr/>
                        <a:t> </a:t>
                      </a:r>
                      <a:r>
                        <a:rPr/>
                        <a:t>fraud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95</a:t>
                      </a:r>
                      <a:r>
                        <a:rPr/>
                        <a:t> </a:t>
                      </a:r>
                      <a:r>
                        <a:rPr/>
                        <a:t>(0.167%)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Features</a:t>
                      </a:r>
                      <a:r>
                        <a:rPr/>
                        <a:t> </a:t>
                      </a:r>
                      <a:r>
                        <a:rPr/>
                        <a:t>into</a:t>
                      </a:r>
                      <a:r>
                        <a:rPr/>
                        <a:t> </a:t>
                      </a:r>
                      <a:r>
                        <a:rPr/>
                        <a:t>pipeline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33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Features</a:t>
                      </a:r>
                      <a:r>
                        <a:rPr/>
                        <a:t> </a:t>
                      </a:r>
                      <a:r>
                        <a:rPr/>
                        <a:t>out</a:t>
                      </a:r>
                      <a:r>
                        <a:rPr/>
                        <a:t> </a:t>
                      </a:r>
                      <a:r>
                        <a:rPr/>
                        <a:t>of</a:t>
                      </a:r>
                      <a:r>
                        <a:rPr/>
                        <a:t> </a:t>
                      </a:r>
                      <a:r>
                        <a:rPr/>
                        <a:t>pipeline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33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Features</a:t>
                      </a:r>
                      <a:r>
                        <a:rPr/>
                        <a:t> </a:t>
                      </a:r>
                      <a:r>
                        <a:rPr/>
                        <a:t>requiring</a:t>
                      </a:r>
                      <a:r>
                        <a:rPr/>
                        <a:t> </a:t>
                      </a:r>
                      <a:r>
                        <a:rPr/>
                        <a:t>scaling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PCA</a:t>
                      </a:r>
                      <a:r>
                        <a:rPr/>
                        <a:t> </a:t>
                      </a:r>
                      <a:r>
                        <a:rPr/>
                        <a:t>features</a:t>
                      </a:r>
                      <a:r>
                        <a:rPr/>
                        <a:t> </a:t>
                      </a:r>
                      <a:r>
                        <a:rPr/>
                        <a:t>(passthrough)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Binary</a:t>
                      </a:r>
                      <a:r>
                        <a:rPr/>
                        <a:t> </a:t>
                      </a:r>
                      <a:r>
                        <a:rPr/>
                        <a:t>features</a:t>
                      </a:r>
                      <a:r>
                        <a:rPr/>
                        <a:t> </a:t>
                      </a:r>
                      <a:r>
                        <a:rPr/>
                        <a:t>(passthrough)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Amount</a:t>
                      </a:r>
                      <a:r>
                        <a:rPr/>
                        <a:t> </a:t>
                      </a:r>
                      <a:r>
                        <a:rPr/>
                        <a:t>(train)</a:t>
                      </a:r>
                      <a:r>
                        <a:rPr/>
                        <a:t> </a:t>
                      </a:r>
                      <a:r>
                        <a:rPr/>
                        <a:t>mean</a:t>
                      </a:r>
                      <a:r>
                        <a:rPr/>
                        <a:t> </a:t>
                      </a:r>
                      <a:r>
                        <a:rPr/>
                        <a:t>/</a:t>
                      </a:r>
                      <a:r>
                        <a:rPr/>
                        <a:t> </a:t>
                      </a:r>
                      <a:r>
                        <a:rPr/>
                        <a:t>std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88.16</a:t>
                      </a:r>
                      <a:r>
                        <a:rPr/>
                        <a:t> </a:t>
                      </a:r>
                      <a:r>
                        <a:rPr/>
                        <a:t>/</a:t>
                      </a:r>
                      <a:r>
                        <a:rPr/>
                        <a:t> </a:t>
                      </a:r>
                      <a:r>
                        <a:rPr/>
                        <a:t>246.45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Time</a:t>
                      </a:r>
                      <a:r>
                        <a:rPr/>
                        <a:t> </a:t>
                      </a:r>
                      <a:r>
                        <a:rPr/>
                        <a:t>(train)</a:t>
                      </a:r>
                      <a:r>
                        <a:rPr/>
                        <a:t> </a:t>
                      </a:r>
                      <a:r>
                        <a:rPr/>
                        <a:t>mean</a:t>
                      </a:r>
                      <a:r>
                        <a:rPr/>
                        <a:t> </a:t>
                      </a:r>
                      <a:r>
                        <a:rPr/>
                        <a:t>/</a:t>
                      </a:r>
                      <a:r>
                        <a:rPr/>
                        <a:t> </a:t>
                      </a:r>
                      <a:r>
                        <a:rPr/>
                        <a:t>std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94,935.9</a:t>
                      </a:r>
                      <a:r>
                        <a:rPr/>
                        <a:t> </a:t>
                      </a:r>
                      <a:r>
                        <a:rPr/>
                        <a:t>/</a:t>
                      </a:r>
                      <a:r>
                        <a:rPr/>
                        <a:t> </a:t>
                      </a:r>
                      <a:r>
                        <a:rPr/>
                        <a:t>47,513.3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log_amount</a:t>
                      </a:r>
                      <a:r>
                        <a:rPr/>
                        <a:t> </a:t>
                      </a:r>
                      <a:r>
                        <a:rPr/>
                        <a:t>(train)</a:t>
                      </a:r>
                      <a:r>
                        <a:rPr/>
                        <a:t> </a:t>
                      </a:r>
                      <a:r>
                        <a:rPr/>
                        <a:t>mean</a:t>
                      </a:r>
                      <a:r>
                        <a:rPr/>
                        <a:t> </a:t>
                      </a:r>
                      <a:r>
                        <a:rPr/>
                        <a:t>/</a:t>
                      </a:r>
                      <a:r>
                        <a:rPr/>
                        <a:t> </a:t>
                      </a:r>
                      <a:r>
                        <a:rPr/>
                        <a:t>std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3.1545</a:t>
                      </a:r>
                      <a:r>
                        <a:rPr/>
                        <a:t> </a:t>
                      </a:r>
                      <a:r>
                        <a:rPr/>
                        <a:t>/</a:t>
                      </a:r>
                      <a:r>
                        <a:rPr/>
                        <a:t> </a:t>
                      </a:r>
                      <a:r>
                        <a:rPr/>
                        <a:t>1.6556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hour_of_day</a:t>
                      </a:r>
                      <a:r>
                        <a:rPr/>
                        <a:t> </a:t>
                      </a:r>
                      <a:r>
                        <a:rPr/>
                        <a:t>(train)</a:t>
                      </a:r>
                      <a:r>
                        <a:rPr/>
                        <a:t> </a:t>
                      </a:r>
                      <a:r>
                        <a:rPr/>
                        <a:t>mean</a:t>
                      </a:r>
                      <a:r>
                        <a:rPr/>
                        <a:t> </a:t>
                      </a:r>
                      <a:r>
                        <a:rPr/>
                        <a:t>/</a:t>
                      </a:r>
                      <a:r>
                        <a:rPr/>
                        <a:t> </a:t>
                      </a:r>
                      <a:r>
                        <a:rPr/>
                        <a:t>std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14.5393</a:t>
                      </a:r>
                      <a:r>
                        <a:rPr/>
                        <a:t> </a:t>
                      </a:r>
                      <a:r>
                        <a:rPr/>
                        <a:t>/</a:t>
                      </a:r>
                      <a:r>
                        <a:rPr/>
                        <a:t> </a:t>
                      </a:r>
                      <a:r>
                        <a:rPr/>
                        <a:t>5.8411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Inference</a:t>
                      </a:r>
                      <a:r>
                        <a:rPr/>
                        <a:t> </a:t>
                      </a:r>
                      <a:r>
                        <a:rPr/>
                        <a:t>consistency</a:t>
                      </a:r>
                      <a:r>
                        <a:rPr/>
                        <a:t> </a:t>
                      </a:r>
                      <a:r>
                        <a:rPr/>
                        <a:t>max</a:t>
                      </a:r>
                      <a:r>
                        <a:rPr/>
                        <a:t> </a:t>
                      </a:r>
                      <a:r>
                        <a:rPr/>
                        <a:t>diff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0.00e+00</a:t>
                      </a:r>
                      <a:r>
                        <a:rPr/>
                        <a:t> </a:t>
                      </a:r>
                      <a:r>
                        <a:rPr/>
                        <a:t>(exact)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Test</a:t>
                      </a:r>
                      <a:r>
                        <a:rPr/>
                        <a:t> </a:t>
                      </a:r>
                      <a:r>
                        <a:rPr/>
                        <a:t>suite</a:t>
                      </a:r>
                      <a:r>
                        <a:rPr/>
                        <a:t> </a:t>
                      </a:r>
                      <a:r>
                        <a:rPr/>
                        <a:t>results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59</a:t>
                      </a:r>
                      <a:r>
                        <a:rPr b="1"/>
                        <a:t> </a:t>
                      </a:r>
                      <a:r>
                        <a:rPr b="1"/>
                        <a:t>/</a:t>
                      </a:r>
                      <a:r>
                        <a:rPr b="1"/>
                        <a:t> </a:t>
                      </a:r>
                      <a:r>
                        <a:rPr b="1"/>
                        <a:t>59</a:t>
                      </a:r>
                      <a:r>
                        <a:rPr b="1"/>
                        <a:t> </a:t>
                      </a:r>
                      <a:r>
                        <a:rPr b="1"/>
                        <a:t>passed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Test</a:t>
                      </a:r>
                      <a:r>
                        <a:rPr/>
                        <a:t> </a:t>
                      </a:r>
                      <a:r>
                        <a:rPr/>
                        <a:t>execution</a:t>
                      </a:r>
                      <a:r>
                        <a:rPr/>
                        <a:t> </a:t>
                      </a:r>
                      <a:r>
                        <a:rPr/>
                        <a:t>time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2.36</a:t>
                      </a:r>
                      <a:r>
                        <a:rPr/>
                        <a:t> </a:t>
                      </a:r>
                      <a:r>
                        <a:rPr/>
                        <a:t>seconds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12.</a:t>
            </a:r>
            <a:r>
              <a:rPr/>
              <a:t> </a:t>
            </a:r>
            <a:r>
              <a:rPr/>
              <a:t>Next</a:t>
            </a:r>
            <a:r>
              <a:rPr/>
              <a:t> </a:t>
            </a:r>
            <a:r>
              <a:rPr/>
              <a:t>Steps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Phase</a:t>
            </a:r>
            <a:r>
              <a:rPr/>
              <a:t> </a:t>
            </a:r>
            <a:r>
              <a:rPr/>
              <a:t>2:</a:t>
            </a:r>
            <a:r>
              <a:rPr/>
              <a:t> </a:t>
            </a:r>
            <a:r>
              <a:rPr/>
              <a:t>Model</a:t>
            </a:r>
            <a:r>
              <a:rPr/>
              <a:t> </a:t>
            </a:r>
            <a:r>
              <a:rPr/>
              <a:t>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 next phase will implement the full ML experimentation pipeline: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Models to Train</a:t>
            </a:r>
          </a:p>
        </p:txBody>
      </p:sp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Imbalance</a:t>
                      </a:r>
                      <a:r>
                        <a:rPr/>
                        <a:t> </a:t>
                      </a:r>
                      <a:r>
                        <a:rPr/>
                        <a:t>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Notes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Dummy</a:t>
                      </a:r>
                      <a:r>
                        <a:rPr/>
                        <a:t> </a:t>
                      </a:r>
                      <a:r>
                        <a:rPr/>
                        <a:t>Baseline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Stratified</a:t>
                      </a:r>
                      <a:r>
                        <a:rPr/>
                        <a:t> </a:t>
                      </a:r>
                      <a:r>
                        <a:rPr/>
                        <a:t>random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Sanity</a:t>
                      </a:r>
                      <a:r>
                        <a:rPr/>
                        <a:t> </a:t>
                      </a:r>
                      <a:r>
                        <a:rPr/>
                        <a:t>check</a:t>
                      </a:r>
                      <a:r>
                        <a:rPr/>
                        <a:t> </a:t>
                      </a:r>
                      <a:r>
                        <a:rPr/>
                        <a:t>floor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Logistic</a:t>
                      </a:r>
                      <a:r>
                        <a:rPr/>
                        <a:t> </a:t>
                      </a:r>
                      <a:r>
                        <a:rPr/>
                        <a:t>Regression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class_weight='balanced'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Interpretable</a:t>
                      </a:r>
                      <a:r>
                        <a:rPr/>
                        <a:t> </a:t>
                      </a:r>
                      <a:r>
                        <a:rPr/>
                        <a:t>linear</a:t>
                      </a:r>
                      <a:r>
                        <a:rPr/>
                        <a:t> </a:t>
                      </a:r>
                      <a:r>
                        <a:rPr/>
                        <a:t>baseline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Decision</a:t>
                      </a:r>
                      <a:r>
                        <a:rPr/>
                        <a:t> </a:t>
                      </a:r>
                      <a:r>
                        <a:rPr/>
                        <a:t>Tree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class_weight='balanced'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Rule-based</a:t>
                      </a:r>
                      <a:r>
                        <a:rPr/>
                        <a:t> </a:t>
                      </a:r>
                      <a:r>
                        <a:rPr/>
                        <a:t>nonlinear</a:t>
                      </a:r>
                      <a:r>
                        <a:rPr/>
                        <a:t> </a:t>
                      </a:r>
                      <a:r>
                        <a:rPr/>
                        <a:t>baseline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Random</a:t>
                      </a:r>
                      <a:r>
                        <a:rPr/>
                        <a:t> </a:t>
                      </a:r>
                      <a:r>
                        <a:rPr/>
                        <a:t>Forest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class_weight='balanced'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Robust</a:t>
                      </a:r>
                      <a:r>
                        <a:rPr/>
                        <a:t> </a:t>
                      </a:r>
                      <a:r>
                        <a:rPr/>
                        <a:t>ensemble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XGBoost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sz="1800">
                          <a:latin typeface="Courier"/>
                        </a:rPr>
                        <a:t>scale_pos_weight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High-performance</a:t>
                      </a:r>
                      <a:r>
                        <a:rPr/>
                        <a:t> </a:t>
                      </a:r>
                      <a:r>
                        <a:rPr/>
                        <a:t>gradient</a:t>
                      </a:r>
                      <a:r>
                        <a:rPr/>
                        <a:t> </a:t>
                      </a:r>
                      <a:r>
                        <a:rPr/>
                        <a:t>boosting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Evaluation Metrics</a:t>
            </a:r>
          </a:p>
          <a:p>
            <a:pPr lvl="0" marL="0" indent="0">
              <a:buNone/>
            </a:pPr>
            <a:r>
              <a:rPr/>
              <a:t>Each model will be evaluated on the </a:t>
            </a:r>
            <a:r>
              <a:rPr b="1"/>
              <a:t>validation set</a:t>
            </a:r>
            <a:r>
              <a:rPr/>
              <a:t> using:</a:t>
            </a:r>
          </a:p>
        </p:txBody>
      </p:sp>
    </p:spTree>
  </p:cSld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Why</a:t>
                      </a:r>
                      <a:r>
                        <a:rPr/>
                        <a:t> </a:t>
                      </a:r>
                      <a:r>
                        <a:rPr/>
                        <a:t>Important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Precision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Per-threshold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Of</a:t>
                      </a:r>
                      <a:r>
                        <a:rPr/>
                        <a:t> </a:t>
                      </a:r>
                      <a:r>
                        <a:rPr/>
                        <a:t>flagged</a:t>
                      </a:r>
                      <a:r>
                        <a:rPr/>
                        <a:t> </a:t>
                      </a:r>
                      <a:r>
                        <a:rPr/>
                        <a:t>transactions,</a:t>
                      </a:r>
                      <a:r>
                        <a:rPr/>
                        <a:t> </a:t>
                      </a:r>
                      <a:r>
                        <a:rPr/>
                        <a:t>how</a:t>
                      </a:r>
                      <a:r>
                        <a:rPr/>
                        <a:t> </a:t>
                      </a:r>
                      <a:r>
                        <a:rPr/>
                        <a:t>many</a:t>
                      </a:r>
                      <a:r>
                        <a:rPr/>
                        <a:t> </a:t>
                      </a:r>
                      <a:r>
                        <a:rPr/>
                        <a:t>are</a:t>
                      </a:r>
                      <a:r>
                        <a:rPr/>
                        <a:t> </a:t>
                      </a:r>
                      <a:r>
                        <a:rPr/>
                        <a:t>actually</a:t>
                      </a:r>
                      <a:r>
                        <a:rPr/>
                        <a:t> </a:t>
                      </a:r>
                      <a:r>
                        <a:rPr/>
                        <a:t>fraud?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Recall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Per-threshold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Of</a:t>
                      </a:r>
                      <a:r>
                        <a:rPr/>
                        <a:t> </a:t>
                      </a:r>
                      <a:r>
                        <a:rPr/>
                        <a:t>all</a:t>
                      </a:r>
                      <a:r>
                        <a:rPr/>
                        <a:t> </a:t>
                      </a:r>
                      <a:r>
                        <a:rPr/>
                        <a:t>actual</a:t>
                      </a:r>
                      <a:r>
                        <a:rPr/>
                        <a:t> </a:t>
                      </a:r>
                      <a:r>
                        <a:rPr/>
                        <a:t>fraud,</a:t>
                      </a:r>
                      <a:r>
                        <a:rPr/>
                        <a:t> </a:t>
                      </a:r>
                      <a:r>
                        <a:rPr/>
                        <a:t>how</a:t>
                      </a:r>
                      <a:r>
                        <a:rPr/>
                        <a:t> </a:t>
                      </a:r>
                      <a:r>
                        <a:rPr/>
                        <a:t>many</a:t>
                      </a:r>
                      <a:r>
                        <a:rPr/>
                        <a:t> </a:t>
                      </a:r>
                      <a:r>
                        <a:rPr/>
                        <a:t>were</a:t>
                      </a:r>
                      <a:r>
                        <a:rPr/>
                        <a:t> </a:t>
                      </a:r>
                      <a:r>
                        <a:rPr/>
                        <a:t>detected?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F1-Score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Per-threshold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Harmonic</a:t>
                      </a:r>
                      <a:r>
                        <a:rPr/>
                        <a:t> </a:t>
                      </a:r>
                      <a:r>
                        <a:rPr/>
                        <a:t>mean</a:t>
                      </a:r>
                      <a:r>
                        <a:rPr/>
                        <a:t> </a:t>
                      </a:r>
                      <a:r>
                        <a:rPr/>
                        <a:t>of</a:t>
                      </a:r>
                      <a:r>
                        <a:rPr/>
                        <a:t> </a:t>
                      </a:r>
                      <a:r>
                        <a:rPr/>
                        <a:t>precision</a:t>
                      </a:r>
                      <a:r>
                        <a:rPr/>
                        <a:t> </a:t>
                      </a:r>
                      <a:r>
                        <a:rPr/>
                        <a:t>and</a:t>
                      </a:r>
                      <a:r>
                        <a:rPr/>
                        <a:t> </a:t>
                      </a:r>
                      <a:r>
                        <a:rPr/>
                        <a:t>recall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F2-Score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Per-threshold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Primary</a:t>
                      </a:r>
                      <a:r>
                        <a:rPr/>
                        <a:t> </a:t>
                      </a:r>
                      <a:r>
                        <a:rPr/>
                        <a:t>—</a:t>
                      </a:r>
                      <a:r>
                        <a:rPr/>
                        <a:t> </a:t>
                      </a:r>
                      <a:r>
                        <a:rPr/>
                        <a:t>recall-weighted,</a:t>
                      </a:r>
                      <a:r>
                        <a:rPr/>
                        <a:t> </a:t>
                      </a:r>
                      <a:r>
                        <a:rPr/>
                        <a:t>prioritizes</a:t>
                      </a:r>
                      <a:r>
                        <a:rPr/>
                        <a:t> </a:t>
                      </a:r>
                      <a:r>
                        <a:rPr/>
                        <a:t>catching</a:t>
                      </a:r>
                      <a:r>
                        <a:rPr/>
                        <a:t> </a:t>
                      </a:r>
                      <a:r>
                        <a:rPr/>
                        <a:t>fraud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ROC-AUC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Threshold-free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Overall</a:t>
                      </a:r>
                      <a:r>
                        <a:rPr/>
                        <a:t> </a:t>
                      </a:r>
                      <a:r>
                        <a:rPr/>
                        <a:t>discrimination</a:t>
                      </a:r>
                      <a:r>
                        <a:rPr/>
                        <a:t> </a:t>
                      </a:r>
                      <a:r>
                        <a:rPr/>
                        <a:t>ability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PR-AUC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Threshold-free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Robust</a:t>
                      </a:r>
                      <a:r>
                        <a:rPr/>
                        <a:t> </a:t>
                      </a:r>
                      <a:r>
                        <a:rPr/>
                        <a:t>to</a:t>
                      </a:r>
                      <a:r>
                        <a:rPr/>
                        <a:t> </a:t>
                      </a:r>
                      <a:r>
                        <a:rPr/>
                        <a:t>imbalance</a:t>
                      </a:r>
                      <a:r>
                        <a:rPr/>
                        <a:t> </a:t>
                      </a:r>
                      <a:r>
                        <a:rPr/>
                        <a:t>(recommended</a:t>
                      </a:r>
                      <a:r>
                        <a:rPr/>
                        <a:t> </a:t>
                      </a:r>
                      <a:r>
                        <a:rPr/>
                        <a:t>for</a:t>
                      </a:r>
                      <a:r>
                        <a:rPr/>
                        <a:t> </a:t>
                      </a:r>
                      <a:r>
                        <a:rPr/>
                        <a:t>fraud)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Confusion</a:t>
                      </a:r>
                      <a:r>
                        <a:rPr/>
                        <a:t> </a:t>
                      </a:r>
                      <a:r>
                        <a:rPr/>
                        <a:t>Matrix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Per-threshold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Full</a:t>
                      </a:r>
                      <a:r>
                        <a:rPr/>
                        <a:t> </a:t>
                      </a:r>
                      <a:r>
                        <a:rPr/>
                        <a:t>classification</a:t>
                      </a:r>
                      <a:r>
                        <a:rPr/>
                        <a:t> </a:t>
                      </a:r>
                      <a:r>
                        <a:rPr/>
                        <a:t>breakdown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Threshold Optimization</a:t>
            </a:r>
          </a:p>
          <a:p>
            <a:pPr lvl="0" marL="0" indent="0">
              <a:buNone/>
            </a:pPr>
            <a:r>
              <a:rPr/>
              <a:t>For each model, the classification threshold will be optimized over [0.05, 0.95] to maximize F2-score on the validation set. Default threshold (0.5) will also be reported for comparison.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Model Selection</a:t>
            </a:r>
          </a:p>
          <a:p>
            <a:pPr lvl="0" marL="0" indent="0">
              <a:buNone/>
            </a:pPr>
            <a:r>
              <a:rPr/>
              <a:t>A weighted composite score selects the best model:</a:t>
            </a:r>
          </a:p>
          <a:p>
            <a:pPr lvl="0" marL="1270000" indent="0">
              <a:buNone/>
            </a:pPr>
            <a:r>
              <a:rPr sz="1800">
                <a:latin typeface="Courier"/>
              </a:rPr>
              <a:t>Composite Score = 0.35 × F2 + 0.30 × PR-AUC + 0.20 × ROC-AUC + 0.15 × F1</a:t>
            </a:r>
          </a:p>
          <a:p>
            <a:pPr lvl="0" marL="0" indent="0">
              <a:buNone/>
            </a:pPr>
            <a:r>
              <a:rPr/>
              <a:t>The test set is reserved exclusively for the final report on the selected best model.</a:t>
            </a:r>
          </a:p>
        </p:txBody>
      </p:sp>
    </p:spTree>
  </p:cSld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i="1"/>
              <a:t>Report generated: September 9, 2026</a:t>
            </a:r>
            <a:br/>
            <a:r>
              <a:rPr i="1"/>
              <a:t>Fraud Shield v1.0.0 — Code Masala — Academic Prototype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</Words>
  <Application>Microsoft Office PowerPoint</Application>
  <PresentationFormat>On-screen Show (4:3)</PresentationFormat>
  <Paragraphs>10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Title</vt:lpstr>
      <vt:lpstr>Slide Title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2026-09-09T06:03:48Z</dcterms:created>
  <dcterms:modified xsi:type="dcterms:W3CDTF">2026-09-09T06:03:48Z</dcterms:modified>
</cp:coreProperties>
</file>